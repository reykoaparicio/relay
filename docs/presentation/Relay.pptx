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here to show you Relay.</a:t>
            </a:r>
          </a:p>
          <a:p/>
          <a:p>
            <a:r>
              <a:t>In one line: Relay lets your team use AI on real code, and you stay in control of three things: what it costs, what it sees and what it changes.</a:t>
            </a:r>
          </a:p>
          <a:p/>
          <a:p>
            <a:r>
              <a:t>It's a desktop app for macOS, and it works with the API keys your company already has.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your teams already use AI to help with code. It's fast. But for a company it isn't trustworthy yet, for three reasons.</a:t>
            </a:r>
          </a:p>
          <a:p/>
          <a:p>
            <a:r>
              <a:t>- Cost. Nobody knows what a task costs until the provider bill arrives.</a:t>
            </a:r>
          </a:p>
          <a:p>
            <a:r>
              <a:t>- Data. Nobody can say for sure which files, or which secrets, were sent.</a:t>
            </a:r>
          </a:p>
          <a:p>
            <a:r>
              <a:t>- Changes. Code changes land without a plan anyone actually approved.</a:t>
            </a:r>
          </a:p>
          <a:p/>
          <a:p>
            <a:r>
              <a:t>Those three gaps are why AI stays a personal tool and never becomes a team process.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Relay is a control layer that sits between your code and your AI provider.</a:t>
            </a:r>
          </a:p>
          <a:p/>
          <a:p>
            <a:r>
              <a:t>It runs a repeatable workflow: review the code, plan a fix, draft a patch, check the patch. Spending is visible at every step, and nothing is drafted until a person approves the plan.</a:t>
            </a:r>
          </a:p>
          <a:p/>
          <a:p>
            <a:r>
              <a:t>Let me show you the real app.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project overview, and everything that needs you is on this one screen.</a:t>
            </a:r>
          </a:p>
          <a:p/>
          <a:p>
            <a:r>
              <a:t>- On the left, a run is waiting for my approval.</a:t>
            </a:r>
          </a:p>
          <a:p>
            <a:r>
              <a:t>- Next to it is what we've spent so far this month.</a:t>
            </a:r>
          </a:p>
          <a:p>
            <a:r>
              <a:t>- On the right are the limits for this run: the allowance, how many revision cycles it may take, and the fact that it can only draft a patch.</a:t>
            </a:r>
          </a:p>
          <a:p/>
          <a:p>
            <a:r>
              <a:t>Notice the line "No project files have been modified." That line comes back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run is five steps: review, plan, approve, patch, verify.</a:t>
            </a:r>
          </a:p>
          <a:p/>
          <a:p>
            <a:r>
              <a:t>Each step can use a different model, even a different provider. A cheap, fast model can do the review and a stronger one the patch.</a:t>
            </a:r>
          </a:p>
          <a:p/>
          <a:p>
            <a:r>
              <a:t>Step three is yours. Relay stops, shows you the plan, and waits. You can approve it, ask for a revision, or reject it. Nothing else happens until you decide.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approval screen. The plan is concrete: each item names the finding it fixes and the files it's allowed to touch.</a:t>
            </a:r>
          </a:p>
          <a:p/>
          <a:p>
            <a:r>
              <a:t>From here you can pause the run, cancel it, or export it. Approval is tied to this exact version of the plan, so if the plan changes, you approve again.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design rule: Relay never edits your project files.</a:t>
            </a:r>
          </a:p>
          <a:p/>
          <a:p>
            <a:r>
              <a:t>What you get is a report and a proposed patch. You review the patch and apply it yourself, with your normal tools and your normal code review.</a:t>
            </a:r>
          </a:p>
          <a:p/>
          <a:p>
            <a:r>
              <a:t>So the worst case is a bad suggestion, not a broken codebase.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cost. Before every single call, Relay reserves the most that call could cost. If that would go over your budget, the call is never sent.</a:t>
            </a:r>
          </a:p>
          <a:p/>
          <a:p>
            <a:r>
              <a:t>- Budgets are set per run and per project per month. If a run hits its limit it pauses, and you can raise the limit in place.</a:t>
            </a:r>
          </a:p>
          <a:p>
            <a:r>
              <a:t>- The numbers are honest. When we know the exact cost, we show it. When we can't, we show an estimate, marked as an estimate, and never "unknown".</a:t>
            </a:r>
          </a:p>
          <a:p>
            <a:r>
              <a:t>- There are no surprise retries. A request that may already have been charged is never re-sent without you.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budget pause. The next request needed 11 cents and only 6 cents remained, so nothing was sent.</a:t>
            </a:r>
          </a:p>
          <a:p/>
          <a:p>
            <a:r>
              <a:t>What matters is that it shows the math. You can see the allowance, what's already been used, what's reserved, and the formula. A finance person can check this line by line.</a:t>
            </a:r>
          </a:p>
          <a:p/>
          <a:p>
            <a:r>
              <a:t>You then choose: raise the allowance, switch to a cheaper model profile, or stop. Every finished step is kept either way.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Sometimes the network drops in the middle of a request, and nobody knows whether the provider finished it.</a:t>
            </a:r>
          </a:p>
          <a:p/>
          <a:p>
            <a:r>
              <a:t>Most tools either hide that or quietly retry it, and quietly retrying can mean paying twice.</a:t>
            </a:r>
          </a:p>
          <a:p/>
          <a:p>
            <a:r>
              <a:t>Relay counts it as an estimate, here about 6 cents, notes that it may not have been charged, and asks you to retry the step or stop. It never retries on its 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data: only what you pick leaves your Mac.</a:t>
            </a:r>
          </a:p>
          <a:p/>
          <a:p>
            <a:r>
              <a:t>- Projects, runs, history and memory are stored locally on your computer.</a:t>
            </a:r>
          </a:p>
          <a:p>
            <a:r>
              <a:t>- For each run you choose the files. The run records exactly which files went to which provider.</a:t>
            </a:r>
          </a:p>
          <a:p>
            <a:r>
              <a:t>- Key and credential files are blocked outright. Files that look like they contain a key need your OK.</a:t>
            </a:r>
          </a:p>
          <a:p>
            <a:r>
              <a:t>- API keys live in the macOS Keychain. They never appear in logs, exports or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model is simple: bring your own key.</a:t>
            </a:r>
          </a:p>
          <a:p/>
          <a:p>
            <a:r>
              <a:t>Relay works with Anthropic, OpenAI and Google Gemini. Companies plug in their own keys and pay the providers directly, under the contracts and data terms they already have.</a:t>
            </a:r>
          </a:p>
          <a:p/>
          <a:p>
            <a:r>
              <a:t>Relay adds the control, not a markup on tokens.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start a run, you pick a model and an output limit for each step.</a:t>
            </a:r>
          </a:p>
          <a:p/>
          <a:p>
            <a:r>
              <a:t>Each step comes with a sensible default, so most people never touch these boxes. A team that wants tight control can set every one of them.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Connecting a provider takes about a minute. You paste a key and Relay tests it with a tiny request, then stores it in the Keychain.</a:t>
            </a:r>
          </a:p>
          <a:p/>
          <a:p>
            <a:r>
              <a:t>From then on you only ever see a redacted label like this one. You can test, replace or remove the key at any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You're always in control of a running job.</a:t>
            </a:r>
          </a:p>
          <a:p/>
          <a:p>
            <a:r>
              <a:t>- Pause stops after the current request and later resumes exactly where it left off.</a:t>
            </a:r>
          </a:p>
          <a:p>
            <a:r>
              <a:t>- Export saves everything finished so far, even in the middle of a run.</a:t>
            </a:r>
          </a:p>
          <a:p>
            <a:r>
              <a:t>- Crash recovery: if the app crashes or the laptop restarts, runs are kept safe and can be resumed.</a:t>
            </a:r>
          </a:p>
          <a:p>
            <a:r>
              <a:t>- Backups: daily automatic backups, with a one-click restore.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Relay also learns your project's rules, but only with your approval.</a:t>
            </a:r>
          </a:p>
          <a:p/>
          <a:p>
            <a:r>
              <a:t>When a run finds something worth remembering, like "this project validates input with this helper", it suggests a rule. Nothing is added automatically.</a:t>
            </a:r>
          </a:p>
          <a:p/>
          <a:p>
            <a:r>
              <a:t>Approved rules are reused in future runs, and every rule keeps its source, its history and a review date.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run ends in a clear report: the goal, the verdict, which models were used, the findings, what was approved, any limitations, and the tracked cost. It exports as Markdown, so it can go straight into a ticket or a pull request.</a:t>
            </a:r>
          </a:p>
          <a:p/>
          <a:p>
            <a:r>
              <a:t>And the green banner at the top is the promise from earlier: "Original project files were not modified."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project memory. You see the approved rules with their source and scope. Suggestions wait in their own tab until someone reviews them, and they're kept out of future runs until they're approved.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and tested Relay like it handles money, because it does.</a:t>
            </a:r>
          </a:p>
          <a:p/>
          <a:p>
            <a:r>
              <a:t>- More than 3,600 automated unit tests.</a:t>
            </a:r>
          </a:p>
          <a:p>
            <a:r>
              <a:t>- 120 integration tests, including crash recovery.</a:t>
            </a:r>
          </a:p>
          <a:p>
            <a:r>
              <a:t>- 43 end-to-end tests that drive the real desktop app.</a:t>
            </a:r>
          </a:p>
          <a:p>
            <a:r>
              <a:t>- Zero secrets found by the release scan.</a:t>
            </a:r>
          </a:p>
          <a:p/>
          <a:p>
            <a:r>
              <a:t>It has also been through separate security, money, UI and resilience audits, each followed by fixes and a bug hunt.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Relay is for teams that already pay for AI and want it to be predictable.</a:t>
            </a:r>
          </a:p>
          <a:p/>
          <a:p>
            <a:r>
              <a:t>- Engineering leads need AI help their team can audit and approve.</a:t>
            </a:r>
          </a:p>
          <a:p>
            <a:r>
              <a:t>- Developers want a reviewed plan and a clean patch, not a chat transcript.</a:t>
            </a:r>
          </a:p>
          <a:p>
            <a:r>
              <a:t>- Budget owners need hard spending limits and a ledger they can export.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where we are, honestly.</a:t>
            </a:r>
          </a:p>
          <a:p/>
          <a:p>
            <a:r>
              <a:t>The prototype is complete: the full workflow, the desktop app, packaging, and the audits.</a:t>
            </a:r>
          </a:p>
          <a:p/>
          <a:p>
            <a:r>
              <a:t>Next is real-world proof:</a:t>
            </a:r>
          </a:p>
          <a:p>
            <a:r>
              <a:t>- a live run against all three providers;</a:t>
            </a:r>
          </a:p>
          <a:p>
            <a:r>
              <a:t>- a signed macOS build;</a:t>
            </a:r>
          </a:p>
          <a:p>
            <a:r>
              <a:t>- our first pilot teams.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Relay: AI on your code, with the brakes on.</a:t>
            </a:r>
          </a:p>
          <a:p/>
          <a:p>
            <a:r>
              <a:t>We're looking for pilot teams. If you have a codebase and an AI bill you'd like to make predictable, let's talk.</a:t>
            </a:r>
          </a:p>
          <a:p/>
          <a:p>
            <a:r>
              <a:t>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2F7A55"/>
            </a:gs>
            <a:gs pos="100000">
              <a:srgbClr val="8CC79F"/>
            </a:gs>
          </a:gsLst>
          <a:lin scaled="0" ang="2700000"/>
        </a:gra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EAF5EE"/>
                </a:solidFill>
                <a:latin typeface="Menlo"/>
              </a:rPr>
              <a:t>01 / 22</a:t>
            </a:r>
          </a:p>
        </p:txBody>
      </p:sp>
      <p:sp>
        <p:nvSpPr>
          <p:cNvPr id="3" name="TextBox 2"/>
          <p:cNvSpPr txBox="1"/>
          <p:nvPr/>
        </p:nvSpPr>
        <p:spPr>
          <a:xfrm>
            <a:off x="838200" y="685800"/>
            <a:ext cx="9525000" cy="209550"/>
          </a:xfrm>
          <a:prstGeom prst="rect">
            <a:avLst/>
          </a:prstGeom>
          <a:noFill/>
        </p:spPr>
        <p:txBody>
          <a:bodyPr wrap="square" anchor="t" lIns="0" rIns="0" tIns="0" bIns="0">
            <a:spAutoFit/>
          </a:bodyPr>
          <a:lstStyle/>
          <a:p>
            <a:pPr algn="l">
              <a:lnSpc>
                <a:spcPct val="105000"/>
              </a:lnSpc>
            </a:pPr>
            <a:r>
              <a:rPr sz="1100" b="1">
                <a:solidFill>
                  <a:srgbClr val="FFFFFF"/>
                </a:solidFill>
                <a:latin typeface="Helvetica Neue"/>
              </a:rPr>
              <a:t>PRODUCT OVERVIEW · OCTOBER 2026</a:t>
            </a:r>
          </a:p>
        </p:txBody>
      </p:sp>
      <p:sp>
        <p:nvSpPr>
          <p:cNvPr id="4" name="TextBox 3"/>
          <p:cNvSpPr txBox="1"/>
          <p:nvPr/>
        </p:nvSpPr>
        <p:spPr>
          <a:xfrm>
            <a:off x="838200" y="2857500"/>
            <a:ext cx="10477500" cy="1905000"/>
          </a:xfrm>
          <a:prstGeom prst="rect">
            <a:avLst/>
          </a:prstGeom>
          <a:noFill/>
        </p:spPr>
        <p:txBody>
          <a:bodyPr wrap="square" anchor="b" lIns="0" rIns="0" tIns="0" bIns="0">
            <a:spAutoFit/>
          </a:bodyPr>
          <a:lstStyle/>
          <a:p>
            <a:pPr algn="l">
              <a:lnSpc>
                <a:spcPct val="95000"/>
              </a:lnSpc>
            </a:pPr>
            <a:r>
              <a:rPr sz="6600" b="1">
                <a:solidFill>
                  <a:srgbClr val="FFFFFF"/>
                </a:solidFill>
                <a:latin typeface="Helvetica Neue"/>
              </a:rPr>
              <a:t>Relay</a:t>
            </a:r>
          </a:p>
        </p:txBody>
      </p:sp>
      <p:sp>
        <p:nvSpPr>
          <p:cNvPr id="5" name="TextBox 4"/>
          <p:cNvSpPr txBox="1"/>
          <p:nvPr/>
        </p:nvSpPr>
        <p:spPr>
          <a:xfrm>
            <a:off x="838200" y="4876800"/>
            <a:ext cx="10477500" cy="571500"/>
          </a:xfrm>
          <a:prstGeom prst="rect">
            <a:avLst/>
          </a:prstGeom>
          <a:noFill/>
        </p:spPr>
        <p:txBody>
          <a:bodyPr wrap="square" anchor="t" lIns="0" rIns="0" tIns="0" bIns="0">
            <a:spAutoFit/>
          </a:bodyPr>
          <a:lstStyle/>
          <a:p>
            <a:pPr algn="l">
              <a:lnSpc>
                <a:spcPct val="105000"/>
              </a:lnSpc>
            </a:pPr>
            <a:r>
              <a:rPr sz="2400" b="0">
                <a:solidFill>
                  <a:srgbClr val="FFFFFF"/>
                </a:solidFill>
                <a:latin typeface="Helvetica Neue"/>
              </a:rPr>
              <a:t>AI on your code, with the brakes on.</a:t>
            </a:r>
          </a:p>
        </p:txBody>
      </p:sp>
      <p:sp>
        <p:nvSpPr>
          <p:cNvPr id="6" name="TextBox 5"/>
          <p:cNvSpPr txBox="1"/>
          <p:nvPr/>
        </p:nvSpPr>
        <p:spPr>
          <a:xfrm>
            <a:off x="838200" y="5905500"/>
            <a:ext cx="10477500" cy="285750"/>
          </a:xfrm>
          <a:prstGeom prst="rect">
            <a:avLst/>
          </a:prstGeom>
          <a:noFill/>
        </p:spPr>
        <p:txBody>
          <a:bodyPr wrap="square" anchor="t" lIns="0" rIns="0" tIns="0" bIns="0">
            <a:spAutoFit/>
          </a:bodyPr>
          <a:lstStyle/>
          <a:p>
            <a:pPr algn="l">
              <a:lnSpc>
                <a:spcPct val="105000"/>
              </a:lnSpc>
            </a:pPr>
            <a:r>
              <a:rPr sz="1300" b="0">
                <a:solidFill>
                  <a:srgbClr val="FFFFFF"/>
                </a:solidFill>
                <a:latin typeface="Helvetica Neue"/>
              </a:rPr>
              <a:t>Desktop prototype · macOS · Bring your own API keys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5B6B64"/>
                </a:solidFill>
                <a:latin typeface="Menlo"/>
              </a:rPr>
              <a:t>02 / 22</a:t>
            </a:r>
          </a:p>
        </p:txBody>
      </p:sp>
      <p:sp>
        <p:nvSpPr>
          <p:cNvPr id="3" name="TextBox 2"/>
          <p:cNvSpPr txBox="1"/>
          <p:nvPr/>
        </p:nvSpPr>
        <p:spPr>
          <a:xfrm>
            <a:off x="838200" y="685800"/>
            <a:ext cx="9525000" cy="209550"/>
          </a:xfrm>
          <a:prstGeom prst="rect">
            <a:avLst/>
          </a:prstGeom>
          <a:noFill/>
        </p:spPr>
        <p:txBody>
          <a:bodyPr wrap="square" anchor="t" lIns="0" rIns="0" tIns="0" bIns="0">
            <a:spAutoFit/>
          </a:bodyPr>
          <a:lstStyle/>
          <a:p>
            <a:pPr algn="l">
              <a:lnSpc>
                <a:spcPct val="105000"/>
              </a:lnSpc>
            </a:pPr>
            <a:r>
              <a:rPr sz="1100" b="1">
                <a:solidFill>
                  <a:srgbClr val="2F7A55"/>
                </a:solidFill>
                <a:latin typeface="Helvetica Neue"/>
              </a:rPr>
              <a:t>THE PROBLEM</a:t>
            </a:r>
          </a:p>
        </p:txBody>
      </p:sp>
      <p:sp>
        <p:nvSpPr>
          <p:cNvPr id="4" name="TextBox 3"/>
          <p:cNvSpPr txBox="1"/>
          <p:nvPr/>
        </p:nvSpPr>
        <p:spPr>
          <a:xfrm>
            <a:off x="838200" y="1066800"/>
            <a:ext cx="10515600" cy="1428750"/>
          </a:xfrm>
          <a:prstGeom prst="rect">
            <a:avLst/>
          </a:prstGeom>
          <a:noFill/>
        </p:spPr>
        <p:txBody>
          <a:bodyPr wrap="square" anchor="t" lIns="0" rIns="0" tIns="0" bIns="0">
            <a:spAutoFit/>
          </a:bodyPr>
          <a:lstStyle/>
          <a:p>
            <a:pPr algn="l">
              <a:lnSpc>
                <a:spcPct val="100000"/>
              </a:lnSpc>
            </a:pPr>
            <a:r>
              <a:rPr sz="4000" b="1">
                <a:solidFill>
                  <a:srgbClr val="10201A"/>
                </a:solidFill>
                <a:latin typeface="Helvetica Neue"/>
              </a:rPr>
              <a:t>AI coding help is fast.</a:t>
            </a:r>
            <a:r>
              <a:rPr sz="4000" b="1">
                <a:solidFill>
                  <a:srgbClr val="10201A"/>
                </a:solidFill>
                <a:latin typeface="Helvetica Neue"/>
              </a:rPr>
              <a:t>
</a:t>
            </a:r>
            <a:r>
              <a:rPr sz="4000" b="1">
                <a:solidFill>
                  <a:srgbClr val="2F7A55"/>
                </a:solidFill>
                <a:latin typeface="Helvetica Neue"/>
              </a:rPr>
              <a:t>It is not yet trustworthy.</a:t>
            </a:r>
          </a:p>
        </p:txBody>
      </p:sp>
      <p:sp>
        <p:nvSpPr>
          <p:cNvPr id="5" name="TextBox 4"/>
          <p:cNvSpPr txBox="1"/>
          <p:nvPr/>
        </p:nvSpPr>
        <p:spPr>
          <a:xfrm>
            <a:off x="838200" y="2590800"/>
            <a:ext cx="10477500" cy="2857500"/>
          </a:xfrm>
          <a:prstGeom prst="rect">
            <a:avLst/>
          </a:prstGeom>
          <a:noFill/>
        </p:spPr>
        <p:txBody>
          <a:bodyPr wrap="square" anchor="t" lIns="0" rIns="0" tIns="0" bIns="0">
            <a:spAutoFit/>
          </a:bodyPr>
          <a:lstStyle/>
          <a:p>
            <a:pPr algn="l">
              <a:lnSpc>
                <a:spcPct val="170000"/>
              </a:lnSpc>
            </a:pPr>
            <a:r>
              <a:rPr sz="2200" b="0">
                <a:solidFill>
                  <a:srgbClr val="2F7A55"/>
                </a:solidFill>
                <a:latin typeface="Helvetica Neue"/>
              </a:rPr>
              <a:t>—  </a:t>
            </a:r>
            <a:r>
              <a:rPr sz="2200" b="0">
                <a:solidFill>
                  <a:srgbClr val="5B6B64"/>
                </a:solidFill>
                <a:latin typeface="Helvetica Neue"/>
              </a:rPr>
              <a:t>Costs are invisible until the provider bill arrives.</a:t>
            </a:r>
          </a:p>
          <a:p>
            <a:pPr algn="l">
              <a:lnSpc>
                <a:spcPct val="170000"/>
              </a:lnSpc>
            </a:pPr>
            <a:r>
              <a:rPr sz="2200" b="0">
                <a:solidFill>
                  <a:srgbClr val="2F7A55"/>
                </a:solidFill>
                <a:latin typeface="Helvetica Neue"/>
              </a:rPr>
              <a:t>—  </a:t>
            </a:r>
            <a:r>
              <a:rPr sz="2200" b="0">
                <a:solidFill>
                  <a:srgbClr val="5B6B64"/>
                </a:solidFill>
                <a:latin typeface="Helvetica Neue"/>
              </a:rPr>
              <a:t>Nobody is sure which files or secrets were sent.</a:t>
            </a:r>
          </a:p>
          <a:p>
            <a:pPr algn="l">
              <a:lnSpc>
                <a:spcPct val="170000"/>
              </a:lnSpc>
            </a:pPr>
            <a:r>
              <a:rPr sz="2200" b="0">
                <a:solidFill>
                  <a:srgbClr val="2F7A55"/>
                </a:solidFill>
                <a:latin typeface="Helvetica Neue"/>
              </a:rPr>
              <a:t>—  </a:t>
            </a:r>
            <a:r>
              <a:rPr sz="2200" b="0">
                <a:solidFill>
                  <a:srgbClr val="5B6B64"/>
                </a:solidFill>
                <a:latin typeface="Helvetica Neue"/>
              </a:rPr>
              <a:t>Changes land without a plan anyone approved.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3221B"/>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A9BBB1"/>
                </a:solidFill>
                <a:latin typeface="Menlo"/>
              </a:rPr>
              <a:t>03 / 22</a:t>
            </a:r>
          </a:p>
        </p:txBody>
      </p:sp>
      <p:sp>
        <p:nvSpPr>
          <p:cNvPr id="3" name="TextBox 2"/>
          <p:cNvSpPr txBox="1"/>
          <p:nvPr/>
        </p:nvSpPr>
        <p:spPr>
          <a:xfrm>
            <a:off x="838200" y="685800"/>
            <a:ext cx="9525000" cy="209550"/>
          </a:xfrm>
          <a:prstGeom prst="rect">
            <a:avLst/>
          </a:prstGeom>
          <a:noFill/>
        </p:spPr>
        <p:txBody>
          <a:bodyPr wrap="square" anchor="t" lIns="0" rIns="0" tIns="0" bIns="0">
            <a:spAutoFit/>
          </a:bodyPr>
          <a:lstStyle/>
          <a:p>
            <a:pPr algn="l">
              <a:lnSpc>
                <a:spcPct val="105000"/>
              </a:lnSpc>
            </a:pPr>
            <a:r>
              <a:rPr sz="1100" b="1">
                <a:solidFill>
                  <a:srgbClr val="8CC79F"/>
                </a:solidFill>
                <a:latin typeface="Helvetica Neue"/>
              </a:rPr>
              <a:t>WHAT RELAY IS</a:t>
            </a:r>
          </a:p>
        </p:txBody>
      </p:sp>
      <p:sp>
        <p:nvSpPr>
          <p:cNvPr id="4" name="TextBox 3"/>
          <p:cNvSpPr txBox="1"/>
          <p:nvPr/>
        </p:nvSpPr>
        <p:spPr>
          <a:xfrm>
            <a:off x="838200" y="1619250"/>
            <a:ext cx="10515600" cy="2667000"/>
          </a:xfrm>
          <a:prstGeom prst="rect">
            <a:avLst/>
          </a:prstGeom>
          <a:noFill/>
        </p:spPr>
        <p:txBody>
          <a:bodyPr wrap="square" anchor="ctr" lIns="0" rIns="0" tIns="0" bIns="0">
            <a:spAutoFit/>
          </a:bodyPr>
          <a:lstStyle/>
          <a:p>
            <a:pPr algn="l">
              <a:lnSpc>
                <a:spcPct val="100000"/>
              </a:lnSpc>
            </a:pPr>
            <a:r>
              <a:rPr sz="5000" b="1">
                <a:solidFill>
                  <a:srgbClr val="EEF5F0"/>
                </a:solidFill>
                <a:latin typeface="Helvetica Neue"/>
              </a:rPr>
              <a:t>A control layer between</a:t>
            </a:r>
            <a:r>
              <a:rPr sz="5000" b="1">
                <a:solidFill>
                  <a:srgbClr val="EEF5F0"/>
                </a:solidFill>
                <a:latin typeface="Helvetica Neue"/>
              </a:rPr>
              <a:t>
</a:t>
            </a:r>
            <a:r>
              <a:rPr sz="5000" b="1">
                <a:solidFill>
                  <a:srgbClr val="EEF5F0"/>
                </a:solidFill>
                <a:latin typeface="Helvetica Neue"/>
              </a:rPr>
              <a:t>your code and </a:t>
            </a:r>
            <a:r>
              <a:rPr sz="5000" b="1">
                <a:solidFill>
                  <a:srgbClr val="8CC79F"/>
                </a:solidFill>
                <a:latin typeface="Helvetica Neue"/>
              </a:rPr>
              <a:t>your AI provider.</a:t>
            </a:r>
          </a:p>
        </p:txBody>
      </p:sp>
      <p:sp>
        <p:nvSpPr>
          <p:cNvPr id="5" name="TextBox 4"/>
          <p:cNvSpPr txBox="1"/>
          <p:nvPr/>
        </p:nvSpPr>
        <p:spPr>
          <a:xfrm>
            <a:off x="838200" y="4953000"/>
            <a:ext cx="9525000" cy="857250"/>
          </a:xfrm>
          <a:prstGeom prst="rect">
            <a:avLst/>
          </a:prstGeom>
          <a:noFill/>
        </p:spPr>
        <p:txBody>
          <a:bodyPr wrap="square" anchor="t" lIns="0" rIns="0" tIns="0" bIns="0">
            <a:spAutoFit/>
          </a:bodyPr>
          <a:lstStyle/>
          <a:p>
            <a:pPr algn="l">
              <a:lnSpc>
                <a:spcPct val="130000"/>
              </a:lnSpc>
            </a:pPr>
            <a:r>
              <a:rPr sz="1900" b="0">
                <a:solidFill>
                  <a:srgbClr val="A9BBB1"/>
                </a:solidFill>
                <a:latin typeface="Helvetica Neue"/>
              </a:rPr>
              <a:t>A desktop app that runs a repeatable review-to-patch workflow, with visible spending and your approval before any patch is drafted.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5B6B64"/>
                </a:solidFill>
                <a:latin typeface="Menlo"/>
              </a:rPr>
              <a:t>04 / 22</a:t>
            </a:r>
          </a:p>
        </p:txBody>
      </p:sp>
      <p:sp>
        <p:nvSpPr>
          <p:cNvPr id="3" name="TextBox 2"/>
          <p:cNvSpPr txBox="1"/>
          <p:nvPr/>
        </p:nvSpPr>
        <p:spPr>
          <a:xfrm>
            <a:off x="533400" y="381000"/>
            <a:ext cx="9525000" cy="209550"/>
          </a:xfrm>
          <a:prstGeom prst="rect">
            <a:avLst/>
          </a:prstGeom>
          <a:noFill/>
        </p:spPr>
        <p:txBody>
          <a:bodyPr wrap="square" anchor="t" lIns="0" rIns="0" tIns="0" bIns="0">
            <a:spAutoFit/>
          </a:bodyPr>
          <a:lstStyle/>
          <a:p>
            <a:pPr algn="l">
              <a:lnSpc>
                <a:spcPct val="105000"/>
              </a:lnSpc>
            </a:pPr>
            <a:r>
              <a:rPr sz="1000" b="1">
                <a:solidFill>
                  <a:srgbClr val="2F7A55"/>
                </a:solidFill>
                <a:latin typeface="Helvetica Neue"/>
              </a:rPr>
              <a:t>IN THE APP</a:t>
            </a:r>
          </a:p>
        </p:txBody>
      </p:sp>
      <p:sp>
        <p:nvSpPr>
          <p:cNvPr id="4" name="TextBox 3"/>
          <p:cNvSpPr txBox="1"/>
          <p:nvPr/>
        </p:nvSpPr>
        <p:spPr>
          <a:xfrm>
            <a:off x="533400" y="628650"/>
            <a:ext cx="11125200" cy="419100"/>
          </a:xfrm>
          <a:prstGeom prst="rect">
            <a:avLst/>
          </a:prstGeom>
          <a:noFill/>
        </p:spPr>
        <p:txBody>
          <a:bodyPr wrap="square" anchor="t" lIns="0" rIns="0" tIns="0" bIns="0">
            <a:spAutoFit/>
          </a:bodyPr>
          <a:lstStyle/>
          <a:p>
            <a:pPr algn="l">
              <a:lnSpc>
                <a:spcPct val="105000"/>
              </a:lnSpc>
            </a:pPr>
            <a:r>
              <a:rPr sz="2600" b="1">
                <a:solidFill>
                  <a:srgbClr val="10201A"/>
                </a:solidFill>
                <a:latin typeface="Helvetica Neue"/>
              </a:rPr>
              <a:t>Everything that needs you, on one screen.</a:t>
            </a:r>
          </a:p>
        </p:txBody>
      </p:sp>
      <p:sp>
        <p:nvSpPr>
          <p:cNvPr id="5" name="TextBox 4"/>
          <p:cNvSpPr txBox="1"/>
          <p:nvPr/>
        </p:nvSpPr>
        <p:spPr>
          <a:xfrm>
            <a:off x="533400" y="1066800"/>
            <a:ext cx="11125200" cy="247650"/>
          </a:xfrm>
          <a:prstGeom prst="rect">
            <a:avLst/>
          </a:prstGeom>
          <a:noFill/>
        </p:spPr>
        <p:txBody>
          <a:bodyPr wrap="square" anchor="t" lIns="0" rIns="0" tIns="0" bIns="0">
            <a:spAutoFit/>
          </a:bodyPr>
          <a:lstStyle/>
          <a:p>
            <a:pPr algn="l">
              <a:lnSpc>
                <a:spcPct val="105000"/>
              </a:lnSpc>
            </a:pPr>
            <a:r>
              <a:rPr sz="1400" b="0">
                <a:solidFill>
                  <a:srgbClr val="5B6B64"/>
                </a:solidFill>
                <a:latin typeface="Helvetica Neue"/>
              </a:rPr>
              <a:t>The project overview: a run waiting for approval, spending so far, and the run limits.</a:t>
            </a:r>
          </a:p>
        </p:txBody>
      </p:sp>
      <p:pic>
        <p:nvPicPr>
          <p:cNvPr id="6" name="Picture 5" descr="01-overview-attention.png"/>
          <p:cNvPicPr>
            <a:picLocks noChangeAspect="1"/>
          </p:cNvPicPr>
          <p:nvPr/>
        </p:nvPicPr>
        <p:blipFill>
          <a:blip r:embed="rId2"/>
          <a:srcRect b="26849"/>
          <a:stretch>
            <a:fillRect/>
          </a:stretch>
        </p:blipFill>
        <p:spPr>
          <a:xfrm>
            <a:off x="533400" y="1428750"/>
            <a:ext cx="11125200" cy="5086350"/>
          </a:xfrm>
          <a:prstGeom prst="rect">
            <a:avLst/>
          </a:prstGeom>
          <a:ln w="9525">
            <a:solidFill>
              <a:srgbClr val="DFE5E0"/>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5B6B64"/>
                </a:solidFill>
                <a:latin typeface="Menlo"/>
              </a:rPr>
              <a:t>05 / 22</a:t>
            </a:r>
          </a:p>
        </p:txBody>
      </p:sp>
      <p:sp>
        <p:nvSpPr>
          <p:cNvPr id="3" name="TextBox 2"/>
          <p:cNvSpPr txBox="1"/>
          <p:nvPr/>
        </p:nvSpPr>
        <p:spPr>
          <a:xfrm>
            <a:off x="838200" y="685800"/>
            <a:ext cx="9525000" cy="209550"/>
          </a:xfrm>
          <a:prstGeom prst="rect">
            <a:avLst/>
          </a:prstGeom>
          <a:noFill/>
        </p:spPr>
        <p:txBody>
          <a:bodyPr wrap="square" anchor="t" lIns="0" rIns="0" tIns="0" bIns="0">
            <a:spAutoFit/>
          </a:bodyPr>
          <a:lstStyle/>
          <a:p>
            <a:pPr algn="l">
              <a:lnSpc>
                <a:spcPct val="105000"/>
              </a:lnSpc>
            </a:pPr>
            <a:r>
              <a:rPr sz="1100" b="1">
                <a:solidFill>
                  <a:srgbClr val="2F7A55"/>
                </a:solidFill>
                <a:latin typeface="Helvetica Neue"/>
              </a:rPr>
              <a:t>HOW A RUN WORKS</a:t>
            </a:r>
          </a:p>
        </p:txBody>
      </p:sp>
      <p:sp>
        <p:nvSpPr>
          <p:cNvPr id="4" name="TextBox 3"/>
          <p:cNvSpPr txBox="1"/>
          <p:nvPr/>
        </p:nvSpPr>
        <p:spPr>
          <a:xfrm>
            <a:off x="838200" y="1066800"/>
            <a:ext cx="10515600" cy="857250"/>
          </a:xfrm>
          <a:prstGeom prst="rect">
            <a:avLst/>
          </a:prstGeom>
          <a:noFill/>
        </p:spPr>
        <p:txBody>
          <a:bodyPr wrap="square" anchor="t" lIns="0" rIns="0" tIns="0" bIns="0">
            <a:spAutoFit/>
          </a:bodyPr>
          <a:lstStyle/>
          <a:p>
            <a:pPr algn="l">
              <a:lnSpc>
                <a:spcPct val="100000"/>
              </a:lnSpc>
            </a:pPr>
            <a:r>
              <a:rPr sz="4400" b="1">
                <a:solidFill>
                  <a:srgbClr val="10201A"/>
                </a:solidFill>
                <a:latin typeface="Helvetica Neue"/>
              </a:rPr>
              <a:t>Five steps. </a:t>
            </a:r>
            <a:r>
              <a:rPr sz="4400" b="1">
                <a:solidFill>
                  <a:srgbClr val="2F7A55"/>
                </a:solidFill>
                <a:latin typeface="Helvetica Neue"/>
              </a:rPr>
              <a:t>You hold the key one.</a:t>
            </a:r>
          </a:p>
        </p:txBody>
      </p:sp>
      <p:sp>
        <p:nvSpPr>
          <p:cNvPr id="5" name="TextBox 4"/>
          <p:cNvSpPr txBox="1"/>
          <p:nvPr/>
        </p:nvSpPr>
        <p:spPr>
          <a:xfrm>
            <a:off x="838200" y="2019300"/>
            <a:ext cx="10001250" cy="666750"/>
          </a:xfrm>
          <a:prstGeom prst="rect">
            <a:avLst/>
          </a:prstGeom>
          <a:noFill/>
        </p:spPr>
        <p:txBody>
          <a:bodyPr wrap="square" anchor="t" lIns="0" rIns="0" tIns="0" bIns="0">
            <a:spAutoFit/>
          </a:bodyPr>
          <a:lstStyle/>
          <a:p>
            <a:pPr algn="l">
              <a:lnSpc>
                <a:spcPct val="130000"/>
              </a:lnSpc>
            </a:pPr>
            <a:r>
              <a:rPr sz="1900" b="0">
                <a:solidFill>
                  <a:srgbClr val="5B6B64"/>
                </a:solidFill>
                <a:latin typeface="Helvetica Neue"/>
              </a:rPr>
              <a:t>Each step can use a different model and provider.</a:t>
            </a:r>
          </a:p>
        </p:txBody>
      </p:sp>
      <p:sp>
        <p:nvSpPr>
          <p:cNvPr id="6" name="Rounded Rectangle 5"/>
          <p:cNvSpPr/>
          <p:nvPr/>
        </p:nvSpPr>
        <p:spPr>
          <a:xfrm>
            <a:off x="838200" y="3810000"/>
            <a:ext cx="1950720" cy="2438400"/>
          </a:xfrm>
          <a:prstGeom prst="roundRect">
            <a:avLst>
              <a:gd name="adj" fmla="val 8000"/>
            </a:avLst>
          </a:prstGeom>
          <a:solidFill>
            <a:srgbClr val="FFFFFF"/>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4019550"/>
            <a:ext cx="1531620" cy="190500"/>
          </a:xfrm>
          <a:prstGeom prst="rect">
            <a:avLst/>
          </a:prstGeom>
          <a:noFill/>
        </p:spPr>
        <p:txBody>
          <a:bodyPr wrap="square" anchor="t" lIns="0" rIns="0" tIns="0" bIns="0">
            <a:spAutoFit/>
          </a:bodyPr>
          <a:lstStyle/>
          <a:p>
            <a:pPr algn="l">
              <a:lnSpc>
                <a:spcPct val="105000"/>
              </a:lnSpc>
            </a:pPr>
            <a:r>
              <a:rPr sz="1100" b="0">
                <a:solidFill>
                  <a:srgbClr val="2F7A55"/>
                </a:solidFill>
                <a:latin typeface="Menlo"/>
              </a:rPr>
              <a:t>01</a:t>
            </a:r>
          </a:p>
        </p:txBody>
      </p:sp>
      <p:sp>
        <p:nvSpPr>
          <p:cNvPr id="8" name="TextBox 7"/>
          <p:cNvSpPr txBox="1"/>
          <p:nvPr/>
        </p:nvSpPr>
        <p:spPr>
          <a:xfrm>
            <a:off x="1047750" y="4305300"/>
            <a:ext cx="1531620"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Review</a:t>
            </a:r>
          </a:p>
        </p:txBody>
      </p:sp>
      <p:sp>
        <p:nvSpPr>
          <p:cNvPr id="9" name="TextBox 8"/>
          <p:cNvSpPr txBox="1"/>
          <p:nvPr/>
        </p:nvSpPr>
        <p:spPr>
          <a:xfrm>
            <a:off x="1047750" y="4610100"/>
            <a:ext cx="1531620" cy="148590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A model reads the files you chose and lists findings.</a:t>
            </a:r>
          </a:p>
        </p:txBody>
      </p:sp>
      <p:sp>
        <p:nvSpPr>
          <p:cNvPr id="10" name="Rounded Rectangle 9"/>
          <p:cNvSpPr/>
          <p:nvPr/>
        </p:nvSpPr>
        <p:spPr>
          <a:xfrm>
            <a:off x="2979420" y="3810000"/>
            <a:ext cx="1950720" cy="2438400"/>
          </a:xfrm>
          <a:prstGeom prst="roundRect">
            <a:avLst>
              <a:gd name="adj" fmla="val 8000"/>
            </a:avLst>
          </a:prstGeom>
          <a:solidFill>
            <a:srgbClr val="FFFFFF"/>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88970" y="4019550"/>
            <a:ext cx="1531620" cy="190500"/>
          </a:xfrm>
          <a:prstGeom prst="rect">
            <a:avLst/>
          </a:prstGeom>
          <a:noFill/>
        </p:spPr>
        <p:txBody>
          <a:bodyPr wrap="square" anchor="t" lIns="0" rIns="0" tIns="0" bIns="0">
            <a:spAutoFit/>
          </a:bodyPr>
          <a:lstStyle/>
          <a:p>
            <a:pPr algn="l">
              <a:lnSpc>
                <a:spcPct val="105000"/>
              </a:lnSpc>
            </a:pPr>
            <a:r>
              <a:rPr sz="1100" b="0">
                <a:solidFill>
                  <a:srgbClr val="2F7A55"/>
                </a:solidFill>
                <a:latin typeface="Menlo"/>
              </a:rPr>
              <a:t>02</a:t>
            </a:r>
          </a:p>
        </p:txBody>
      </p:sp>
      <p:sp>
        <p:nvSpPr>
          <p:cNvPr id="12" name="TextBox 11"/>
          <p:cNvSpPr txBox="1"/>
          <p:nvPr/>
        </p:nvSpPr>
        <p:spPr>
          <a:xfrm>
            <a:off x="3188970" y="4305300"/>
            <a:ext cx="1531620"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Plan</a:t>
            </a:r>
          </a:p>
        </p:txBody>
      </p:sp>
      <p:sp>
        <p:nvSpPr>
          <p:cNvPr id="13" name="TextBox 12"/>
          <p:cNvSpPr txBox="1"/>
          <p:nvPr/>
        </p:nvSpPr>
        <p:spPr>
          <a:xfrm>
            <a:off x="3188970" y="4610100"/>
            <a:ext cx="1531620" cy="148590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A second model proposes what to change, and why.</a:t>
            </a:r>
          </a:p>
        </p:txBody>
      </p:sp>
      <p:sp>
        <p:nvSpPr>
          <p:cNvPr id="14" name="Rounded Rectangle 13"/>
          <p:cNvSpPr/>
          <p:nvPr/>
        </p:nvSpPr>
        <p:spPr>
          <a:xfrm>
            <a:off x="5120640" y="3810000"/>
            <a:ext cx="1950720" cy="2438400"/>
          </a:xfrm>
          <a:prstGeom prst="roundRect">
            <a:avLst>
              <a:gd name="adj" fmla="val 8000"/>
            </a:avLst>
          </a:prstGeom>
          <a:solidFill>
            <a:srgbClr val="E3F3EA"/>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30190" y="4019550"/>
            <a:ext cx="1531620" cy="190500"/>
          </a:xfrm>
          <a:prstGeom prst="rect">
            <a:avLst/>
          </a:prstGeom>
          <a:noFill/>
        </p:spPr>
        <p:txBody>
          <a:bodyPr wrap="square" anchor="t" lIns="0" rIns="0" tIns="0" bIns="0">
            <a:spAutoFit/>
          </a:bodyPr>
          <a:lstStyle/>
          <a:p>
            <a:pPr algn="l">
              <a:lnSpc>
                <a:spcPct val="105000"/>
              </a:lnSpc>
            </a:pPr>
            <a:r>
              <a:rPr sz="1100" b="0">
                <a:solidFill>
                  <a:srgbClr val="2F7A55"/>
                </a:solidFill>
                <a:latin typeface="Menlo"/>
              </a:rPr>
              <a:t>03</a:t>
            </a:r>
          </a:p>
        </p:txBody>
      </p:sp>
      <p:sp>
        <p:nvSpPr>
          <p:cNvPr id="16" name="TextBox 15"/>
          <p:cNvSpPr txBox="1"/>
          <p:nvPr/>
        </p:nvSpPr>
        <p:spPr>
          <a:xfrm>
            <a:off x="5330190" y="4305300"/>
            <a:ext cx="1531620"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You approve</a:t>
            </a:r>
          </a:p>
        </p:txBody>
      </p:sp>
      <p:sp>
        <p:nvSpPr>
          <p:cNvPr id="17" name="TextBox 16"/>
          <p:cNvSpPr txBox="1"/>
          <p:nvPr/>
        </p:nvSpPr>
        <p:spPr>
          <a:xfrm>
            <a:off x="5330190" y="4610100"/>
            <a:ext cx="1531620" cy="148590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Approve, ask for a revision, or reject. Nothing else happens first.</a:t>
            </a:r>
          </a:p>
        </p:txBody>
      </p:sp>
      <p:sp>
        <p:nvSpPr>
          <p:cNvPr id="18" name="Rounded Rectangle 17"/>
          <p:cNvSpPr/>
          <p:nvPr/>
        </p:nvSpPr>
        <p:spPr>
          <a:xfrm>
            <a:off x="7261860" y="3810000"/>
            <a:ext cx="1950720" cy="2438400"/>
          </a:xfrm>
          <a:prstGeom prst="roundRect">
            <a:avLst>
              <a:gd name="adj" fmla="val 8000"/>
            </a:avLst>
          </a:prstGeom>
          <a:solidFill>
            <a:srgbClr val="FFFFFF"/>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71410" y="4019550"/>
            <a:ext cx="1531620" cy="190500"/>
          </a:xfrm>
          <a:prstGeom prst="rect">
            <a:avLst/>
          </a:prstGeom>
          <a:noFill/>
        </p:spPr>
        <p:txBody>
          <a:bodyPr wrap="square" anchor="t" lIns="0" rIns="0" tIns="0" bIns="0">
            <a:spAutoFit/>
          </a:bodyPr>
          <a:lstStyle/>
          <a:p>
            <a:pPr algn="l">
              <a:lnSpc>
                <a:spcPct val="105000"/>
              </a:lnSpc>
            </a:pPr>
            <a:r>
              <a:rPr sz="1100" b="0">
                <a:solidFill>
                  <a:srgbClr val="2F7A55"/>
                </a:solidFill>
                <a:latin typeface="Menlo"/>
              </a:rPr>
              <a:t>04</a:t>
            </a:r>
          </a:p>
        </p:txBody>
      </p:sp>
      <p:sp>
        <p:nvSpPr>
          <p:cNvPr id="20" name="TextBox 19"/>
          <p:cNvSpPr txBox="1"/>
          <p:nvPr/>
        </p:nvSpPr>
        <p:spPr>
          <a:xfrm>
            <a:off x="7471410" y="4305300"/>
            <a:ext cx="1531620"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Patch</a:t>
            </a:r>
          </a:p>
        </p:txBody>
      </p:sp>
      <p:sp>
        <p:nvSpPr>
          <p:cNvPr id="21" name="TextBox 20"/>
          <p:cNvSpPr txBox="1"/>
          <p:nvPr/>
        </p:nvSpPr>
        <p:spPr>
          <a:xfrm>
            <a:off x="7471410" y="4610100"/>
            <a:ext cx="1531620" cy="148590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A model drafts the code change the plan allows.</a:t>
            </a:r>
          </a:p>
        </p:txBody>
      </p:sp>
      <p:sp>
        <p:nvSpPr>
          <p:cNvPr id="22" name="Rounded Rectangle 21"/>
          <p:cNvSpPr/>
          <p:nvPr/>
        </p:nvSpPr>
        <p:spPr>
          <a:xfrm>
            <a:off x="9403080" y="3810000"/>
            <a:ext cx="1950720" cy="2438400"/>
          </a:xfrm>
          <a:prstGeom prst="roundRect">
            <a:avLst>
              <a:gd name="adj" fmla="val 8000"/>
            </a:avLst>
          </a:prstGeom>
          <a:solidFill>
            <a:srgbClr val="FFFFFF"/>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12630" y="4019550"/>
            <a:ext cx="1531620" cy="190500"/>
          </a:xfrm>
          <a:prstGeom prst="rect">
            <a:avLst/>
          </a:prstGeom>
          <a:noFill/>
        </p:spPr>
        <p:txBody>
          <a:bodyPr wrap="square" anchor="t" lIns="0" rIns="0" tIns="0" bIns="0">
            <a:spAutoFit/>
          </a:bodyPr>
          <a:lstStyle/>
          <a:p>
            <a:pPr algn="l">
              <a:lnSpc>
                <a:spcPct val="105000"/>
              </a:lnSpc>
            </a:pPr>
            <a:r>
              <a:rPr sz="1100" b="0">
                <a:solidFill>
                  <a:srgbClr val="2F7A55"/>
                </a:solidFill>
                <a:latin typeface="Menlo"/>
              </a:rPr>
              <a:t>05</a:t>
            </a:r>
          </a:p>
        </p:txBody>
      </p:sp>
      <p:sp>
        <p:nvSpPr>
          <p:cNvPr id="24" name="TextBox 23"/>
          <p:cNvSpPr txBox="1"/>
          <p:nvPr/>
        </p:nvSpPr>
        <p:spPr>
          <a:xfrm>
            <a:off x="9612630" y="4305300"/>
            <a:ext cx="1531620"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Verify</a:t>
            </a:r>
          </a:p>
        </p:txBody>
      </p:sp>
      <p:sp>
        <p:nvSpPr>
          <p:cNvPr id="25" name="TextBox 24"/>
          <p:cNvSpPr txBox="1"/>
          <p:nvPr/>
        </p:nvSpPr>
        <p:spPr>
          <a:xfrm>
            <a:off x="9612630" y="4610100"/>
            <a:ext cx="1531620" cy="148590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A reviewer model checks the patch against the plan.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5B6B64"/>
                </a:solidFill>
                <a:latin typeface="Menlo"/>
              </a:rPr>
              <a:t>06 / 22</a:t>
            </a:r>
          </a:p>
        </p:txBody>
      </p:sp>
      <p:sp>
        <p:nvSpPr>
          <p:cNvPr id="3" name="TextBox 2"/>
          <p:cNvSpPr txBox="1"/>
          <p:nvPr/>
        </p:nvSpPr>
        <p:spPr>
          <a:xfrm>
            <a:off x="533400" y="381000"/>
            <a:ext cx="9525000" cy="209550"/>
          </a:xfrm>
          <a:prstGeom prst="rect">
            <a:avLst/>
          </a:prstGeom>
          <a:noFill/>
        </p:spPr>
        <p:txBody>
          <a:bodyPr wrap="square" anchor="t" lIns="0" rIns="0" tIns="0" bIns="0">
            <a:spAutoFit/>
          </a:bodyPr>
          <a:lstStyle/>
          <a:p>
            <a:pPr algn="l">
              <a:lnSpc>
                <a:spcPct val="105000"/>
              </a:lnSpc>
            </a:pPr>
            <a:r>
              <a:rPr sz="1000" b="1">
                <a:solidFill>
                  <a:srgbClr val="2F7A55"/>
                </a:solidFill>
                <a:latin typeface="Helvetica Neue"/>
              </a:rPr>
              <a:t>IN THE APP</a:t>
            </a:r>
          </a:p>
        </p:txBody>
      </p:sp>
      <p:sp>
        <p:nvSpPr>
          <p:cNvPr id="4" name="TextBox 3"/>
          <p:cNvSpPr txBox="1"/>
          <p:nvPr/>
        </p:nvSpPr>
        <p:spPr>
          <a:xfrm>
            <a:off x="533400" y="628650"/>
            <a:ext cx="11125200" cy="419100"/>
          </a:xfrm>
          <a:prstGeom prst="rect">
            <a:avLst/>
          </a:prstGeom>
          <a:noFill/>
        </p:spPr>
        <p:txBody>
          <a:bodyPr wrap="square" anchor="t" lIns="0" rIns="0" tIns="0" bIns="0">
            <a:spAutoFit/>
          </a:bodyPr>
          <a:lstStyle/>
          <a:p>
            <a:pPr algn="l">
              <a:lnSpc>
                <a:spcPct val="105000"/>
              </a:lnSpc>
            </a:pPr>
            <a:r>
              <a:rPr sz="2600" b="1">
                <a:solidFill>
                  <a:srgbClr val="10201A"/>
                </a:solidFill>
                <a:latin typeface="Helvetica Neue"/>
              </a:rPr>
              <a:t>You approve the plan before any code is written.</a:t>
            </a:r>
          </a:p>
        </p:txBody>
      </p:sp>
      <p:sp>
        <p:nvSpPr>
          <p:cNvPr id="5" name="TextBox 4"/>
          <p:cNvSpPr txBox="1"/>
          <p:nvPr/>
        </p:nvSpPr>
        <p:spPr>
          <a:xfrm>
            <a:off x="533400" y="1066800"/>
            <a:ext cx="11125200" cy="247650"/>
          </a:xfrm>
          <a:prstGeom prst="rect">
            <a:avLst/>
          </a:prstGeom>
          <a:noFill/>
        </p:spPr>
        <p:txBody>
          <a:bodyPr wrap="square" anchor="t" lIns="0" rIns="0" tIns="0" bIns="0">
            <a:spAutoFit/>
          </a:bodyPr>
          <a:lstStyle/>
          <a:p>
            <a:pPr algn="l">
              <a:lnSpc>
                <a:spcPct val="105000"/>
              </a:lnSpc>
            </a:pPr>
            <a:r>
              <a:rPr sz="1400" b="0">
                <a:solidFill>
                  <a:srgbClr val="5B6B64"/>
                </a:solidFill>
                <a:latin typeface="Helvetica Neue"/>
              </a:rPr>
              <a:t>Each step of the plan names the finding it fixes, the files it may change and its sources.</a:t>
            </a:r>
          </a:p>
        </p:txBody>
      </p:sp>
      <p:pic>
        <p:nvPicPr>
          <p:cNvPr id="6" name="Picture 5" descr="04-approval.png"/>
          <p:cNvPicPr>
            <a:picLocks noChangeAspect="1"/>
          </p:cNvPicPr>
          <p:nvPr/>
        </p:nvPicPr>
        <p:blipFill>
          <a:blip r:embed="rId2"/>
          <a:srcRect b="26849"/>
          <a:stretch>
            <a:fillRect/>
          </a:stretch>
        </p:blipFill>
        <p:spPr>
          <a:xfrm>
            <a:off x="533400" y="1428750"/>
            <a:ext cx="11125200" cy="5086350"/>
          </a:xfrm>
          <a:prstGeom prst="rect">
            <a:avLst/>
          </a:prstGeom>
          <a:ln w="9525">
            <a:solidFill>
              <a:srgbClr val="DFE5E0"/>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3221B"/>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A9BBB1"/>
                </a:solidFill>
                <a:latin typeface="Menlo"/>
              </a:rPr>
              <a:t>07 / 22</a:t>
            </a:r>
          </a:p>
        </p:txBody>
      </p:sp>
      <p:sp>
        <p:nvSpPr>
          <p:cNvPr id="3" name="TextBox 2"/>
          <p:cNvSpPr txBox="1"/>
          <p:nvPr/>
        </p:nvSpPr>
        <p:spPr>
          <a:xfrm>
            <a:off x="838200" y="685800"/>
            <a:ext cx="9525000" cy="209550"/>
          </a:xfrm>
          <a:prstGeom prst="rect">
            <a:avLst/>
          </a:prstGeom>
          <a:noFill/>
        </p:spPr>
        <p:txBody>
          <a:bodyPr wrap="square" anchor="t" lIns="0" rIns="0" tIns="0" bIns="0">
            <a:spAutoFit/>
          </a:bodyPr>
          <a:lstStyle/>
          <a:p>
            <a:pPr algn="l">
              <a:lnSpc>
                <a:spcPct val="105000"/>
              </a:lnSpc>
            </a:pPr>
            <a:r>
              <a:rPr sz="1100" b="1">
                <a:solidFill>
                  <a:srgbClr val="8CC79F"/>
                </a:solidFill>
                <a:latin typeface="Helvetica Neue"/>
              </a:rPr>
              <a:t>SAFE BY DESIGN</a:t>
            </a:r>
          </a:p>
        </p:txBody>
      </p:sp>
      <p:sp>
        <p:nvSpPr>
          <p:cNvPr id="4" name="TextBox 3"/>
          <p:cNvSpPr txBox="1"/>
          <p:nvPr/>
        </p:nvSpPr>
        <p:spPr>
          <a:xfrm>
            <a:off x="838200" y="1619250"/>
            <a:ext cx="10515600" cy="2667000"/>
          </a:xfrm>
          <a:prstGeom prst="rect">
            <a:avLst/>
          </a:prstGeom>
          <a:noFill/>
        </p:spPr>
        <p:txBody>
          <a:bodyPr wrap="square" anchor="ctr" lIns="0" rIns="0" tIns="0" bIns="0">
            <a:spAutoFit/>
          </a:bodyPr>
          <a:lstStyle/>
          <a:p>
            <a:pPr algn="l">
              <a:lnSpc>
                <a:spcPct val="100000"/>
              </a:lnSpc>
            </a:pPr>
            <a:r>
              <a:rPr sz="5000" b="1">
                <a:solidFill>
                  <a:srgbClr val="EEF5F0"/>
                </a:solidFill>
                <a:latin typeface="Helvetica Neue"/>
              </a:rPr>
              <a:t>Relay never edits</a:t>
            </a:r>
            <a:r>
              <a:rPr sz="5000" b="1">
                <a:solidFill>
                  <a:srgbClr val="EEF5F0"/>
                </a:solidFill>
                <a:latin typeface="Helvetica Neue"/>
              </a:rPr>
              <a:t>
</a:t>
            </a:r>
            <a:r>
              <a:rPr sz="5000" b="1">
                <a:solidFill>
                  <a:srgbClr val="8CC79F"/>
                </a:solidFill>
                <a:latin typeface="Helvetica Neue"/>
              </a:rPr>
              <a:t>your project files.</a:t>
            </a:r>
          </a:p>
        </p:txBody>
      </p:sp>
      <p:sp>
        <p:nvSpPr>
          <p:cNvPr id="5" name="TextBox 4"/>
          <p:cNvSpPr txBox="1"/>
          <p:nvPr/>
        </p:nvSpPr>
        <p:spPr>
          <a:xfrm>
            <a:off x="838200" y="4953000"/>
            <a:ext cx="9525000" cy="857250"/>
          </a:xfrm>
          <a:prstGeom prst="rect">
            <a:avLst/>
          </a:prstGeom>
          <a:noFill/>
        </p:spPr>
        <p:txBody>
          <a:bodyPr wrap="square" anchor="t" lIns="0" rIns="0" tIns="0" bIns="0">
            <a:spAutoFit/>
          </a:bodyPr>
          <a:lstStyle/>
          <a:p>
            <a:pPr algn="l">
              <a:lnSpc>
                <a:spcPct val="130000"/>
              </a:lnSpc>
            </a:pPr>
            <a:r>
              <a:rPr sz="1900" b="0">
                <a:solidFill>
                  <a:srgbClr val="A9BBB1"/>
                </a:solidFill>
                <a:latin typeface="Helvetica Neue"/>
              </a:rPr>
              <a:t>You get a report and a proposed patch. You review it and apply it yourself.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5B6B64"/>
                </a:solidFill>
                <a:latin typeface="Menlo"/>
              </a:rPr>
              <a:t>08 / 22</a:t>
            </a:r>
          </a:p>
        </p:txBody>
      </p:sp>
      <p:sp>
        <p:nvSpPr>
          <p:cNvPr id="3" name="TextBox 2"/>
          <p:cNvSpPr txBox="1"/>
          <p:nvPr/>
        </p:nvSpPr>
        <p:spPr>
          <a:xfrm>
            <a:off x="838200" y="685800"/>
            <a:ext cx="9525000" cy="209550"/>
          </a:xfrm>
          <a:prstGeom prst="rect">
            <a:avLst/>
          </a:prstGeom>
          <a:noFill/>
        </p:spPr>
        <p:txBody>
          <a:bodyPr wrap="square" anchor="t" lIns="0" rIns="0" tIns="0" bIns="0">
            <a:spAutoFit/>
          </a:bodyPr>
          <a:lstStyle/>
          <a:p>
            <a:pPr algn="l">
              <a:lnSpc>
                <a:spcPct val="105000"/>
              </a:lnSpc>
            </a:pPr>
            <a:r>
              <a:rPr sz="1100" b="1">
                <a:solidFill>
                  <a:srgbClr val="2F7A55"/>
                </a:solidFill>
                <a:latin typeface="Helvetica Neue"/>
              </a:rPr>
              <a:t>COST YOU CAN SEE</a:t>
            </a:r>
          </a:p>
        </p:txBody>
      </p:sp>
      <p:sp>
        <p:nvSpPr>
          <p:cNvPr id="4" name="TextBox 3"/>
          <p:cNvSpPr txBox="1"/>
          <p:nvPr/>
        </p:nvSpPr>
        <p:spPr>
          <a:xfrm>
            <a:off x="838200" y="1066800"/>
            <a:ext cx="10515600" cy="1428750"/>
          </a:xfrm>
          <a:prstGeom prst="rect">
            <a:avLst/>
          </a:prstGeom>
          <a:noFill/>
        </p:spPr>
        <p:txBody>
          <a:bodyPr wrap="square" anchor="t" lIns="0" rIns="0" tIns="0" bIns="0">
            <a:spAutoFit/>
          </a:bodyPr>
          <a:lstStyle/>
          <a:p>
            <a:pPr algn="l">
              <a:lnSpc>
                <a:spcPct val="100000"/>
              </a:lnSpc>
            </a:pPr>
            <a:r>
              <a:rPr sz="4000" b="1">
                <a:solidFill>
                  <a:srgbClr val="10201A"/>
                </a:solidFill>
                <a:latin typeface="Helvetica Neue"/>
              </a:rPr>
              <a:t>Every call is checked </a:t>
            </a:r>
            <a:r>
              <a:rPr sz="4000" b="1">
                <a:solidFill>
                  <a:srgbClr val="2F7A55"/>
                </a:solidFill>
                <a:latin typeface="Helvetica Neue"/>
              </a:rPr>
              <a:t>before</a:t>
            </a:r>
            <a:r>
              <a:rPr sz="4000" b="1">
                <a:solidFill>
                  <a:srgbClr val="10201A"/>
                </a:solidFill>
                <a:latin typeface="Helvetica Neue"/>
              </a:rPr>
              <a:t> it is sent.</a:t>
            </a:r>
          </a:p>
        </p:txBody>
      </p:sp>
      <p:sp>
        <p:nvSpPr>
          <p:cNvPr id="5" name="TextBox 4"/>
          <p:cNvSpPr txBox="1"/>
          <p:nvPr/>
        </p:nvSpPr>
        <p:spPr>
          <a:xfrm>
            <a:off x="838200" y="2495550"/>
            <a:ext cx="10001250" cy="666750"/>
          </a:xfrm>
          <a:prstGeom prst="rect">
            <a:avLst/>
          </a:prstGeom>
          <a:noFill/>
        </p:spPr>
        <p:txBody>
          <a:bodyPr wrap="square" anchor="t" lIns="0" rIns="0" tIns="0" bIns="0">
            <a:spAutoFit/>
          </a:bodyPr>
          <a:lstStyle/>
          <a:p>
            <a:pPr algn="l">
              <a:lnSpc>
                <a:spcPct val="130000"/>
              </a:lnSpc>
            </a:pPr>
            <a:r>
              <a:rPr sz="1900" b="0">
                <a:solidFill>
                  <a:srgbClr val="5B6B64"/>
                </a:solidFill>
                <a:latin typeface="Helvetica Neue"/>
              </a:rPr>
              <a:t>Relay reserves the most a call could cost and refuses any call that would go over your budget.</a:t>
            </a:r>
          </a:p>
        </p:txBody>
      </p:sp>
      <p:sp>
        <p:nvSpPr>
          <p:cNvPr id="6" name="Rounded Rectangle 5"/>
          <p:cNvSpPr/>
          <p:nvPr/>
        </p:nvSpPr>
        <p:spPr>
          <a:xfrm>
            <a:off x="838200" y="4000500"/>
            <a:ext cx="3378200" cy="2247900"/>
          </a:xfrm>
          <a:prstGeom prst="roundRect">
            <a:avLst>
              <a:gd name="adj" fmla="val 8000"/>
            </a:avLst>
          </a:prstGeom>
          <a:solidFill>
            <a:srgbClr val="FFFFFF"/>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4210050"/>
            <a:ext cx="2959100"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Budgets</a:t>
            </a:r>
          </a:p>
        </p:txBody>
      </p:sp>
      <p:sp>
        <p:nvSpPr>
          <p:cNvPr id="8" name="TextBox 7"/>
          <p:cNvSpPr txBox="1"/>
          <p:nvPr/>
        </p:nvSpPr>
        <p:spPr>
          <a:xfrm>
            <a:off x="1047750" y="4514850"/>
            <a:ext cx="2959100" cy="158115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Per run and per project per month. Raise them in place when a run pauses.</a:t>
            </a:r>
          </a:p>
        </p:txBody>
      </p:sp>
      <p:sp>
        <p:nvSpPr>
          <p:cNvPr id="9" name="Rounded Rectangle 8"/>
          <p:cNvSpPr/>
          <p:nvPr/>
        </p:nvSpPr>
        <p:spPr>
          <a:xfrm>
            <a:off x="4406900" y="4000500"/>
            <a:ext cx="3378200" cy="2247900"/>
          </a:xfrm>
          <a:prstGeom prst="roundRect">
            <a:avLst>
              <a:gd name="adj" fmla="val 8000"/>
            </a:avLst>
          </a:prstGeom>
          <a:solidFill>
            <a:srgbClr val="FFFFFF"/>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6450" y="4210050"/>
            <a:ext cx="2959100"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Honest numbers</a:t>
            </a:r>
          </a:p>
        </p:txBody>
      </p:sp>
      <p:sp>
        <p:nvSpPr>
          <p:cNvPr id="11" name="TextBox 10"/>
          <p:cNvSpPr txBox="1"/>
          <p:nvPr/>
        </p:nvSpPr>
        <p:spPr>
          <a:xfrm>
            <a:off x="4616450" y="4514850"/>
            <a:ext cx="2959100" cy="158115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Exact costs when known; otherwise shown as ~$0.06 (estimated) , never “unknown”.</a:t>
            </a:r>
          </a:p>
        </p:txBody>
      </p:sp>
      <p:sp>
        <p:nvSpPr>
          <p:cNvPr id="12" name="Rounded Rectangle 11"/>
          <p:cNvSpPr/>
          <p:nvPr/>
        </p:nvSpPr>
        <p:spPr>
          <a:xfrm>
            <a:off x="7975600" y="4000500"/>
            <a:ext cx="3378200" cy="2247900"/>
          </a:xfrm>
          <a:prstGeom prst="roundRect">
            <a:avLst>
              <a:gd name="adj" fmla="val 8000"/>
            </a:avLst>
          </a:prstGeom>
          <a:solidFill>
            <a:srgbClr val="FFFFFF"/>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5150" y="4210050"/>
            <a:ext cx="2959100"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No surprise retries</a:t>
            </a:r>
          </a:p>
        </p:txBody>
      </p:sp>
      <p:sp>
        <p:nvSpPr>
          <p:cNvPr id="14" name="TextBox 13"/>
          <p:cNvSpPr txBox="1"/>
          <p:nvPr/>
        </p:nvSpPr>
        <p:spPr>
          <a:xfrm>
            <a:off x="8185150" y="4514850"/>
            <a:ext cx="2959100" cy="158115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A request that may have been charged is never re-sent without you.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5B6B64"/>
                </a:solidFill>
                <a:latin typeface="Menlo"/>
              </a:rPr>
              <a:t>09 / 22</a:t>
            </a:r>
          </a:p>
        </p:txBody>
      </p:sp>
      <p:sp>
        <p:nvSpPr>
          <p:cNvPr id="3" name="TextBox 2"/>
          <p:cNvSpPr txBox="1"/>
          <p:nvPr/>
        </p:nvSpPr>
        <p:spPr>
          <a:xfrm>
            <a:off x="533400" y="381000"/>
            <a:ext cx="9525000" cy="209550"/>
          </a:xfrm>
          <a:prstGeom prst="rect">
            <a:avLst/>
          </a:prstGeom>
          <a:noFill/>
        </p:spPr>
        <p:txBody>
          <a:bodyPr wrap="square" anchor="t" lIns="0" rIns="0" tIns="0" bIns="0">
            <a:spAutoFit/>
          </a:bodyPr>
          <a:lstStyle/>
          <a:p>
            <a:pPr algn="l">
              <a:lnSpc>
                <a:spcPct val="105000"/>
              </a:lnSpc>
            </a:pPr>
            <a:r>
              <a:rPr sz="1000" b="1">
                <a:solidFill>
                  <a:srgbClr val="2F7A55"/>
                </a:solidFill>
                <a:latin typeface="Helvetica Neue"/>
              </a:rPr>
              <a:t>IN THE APP</a:t>
            </a:r>
          </a:p>
        </p:txBody>
      </p:sp>
      <p:sp>
        <p:nvSpPr>
          <p:cNvPr id="4" name="TextBox 3"/>
          <p:cNvSpPr txBox="1"/>
          <p:nvPr/>
        </p:nvSpPr>
        <p:spPr>
          <a:xfrm>
            <a:off x="533400" y="628650"/>
            <a:ext cx="11125200" cy="419100"/>
          </a:xfrm>
          <a:prstGeom prst="rect">
            <a:avLst/>
          </a:prstGeom>
          <a:noFill/>
        </p:spPr>
        <p:txBody>
          <a:bodyPr wrap="square" anchor="t" lIns="0" rIns="0" tIns="0" bIns="0">
            <a:spAutoFit/>
          </a:bodyPr>
          <a:lstStyle/>
          <a:p>
            <a:pPr algn="l">
              <a:lnSpc>
                <a:spcPct val="105000"/>
              </a:lnSpc>
            </a:pPr>
            <a:r>
              <a:rPr sz="2600" b="1">
                <a:solidFill>
                  <a:srgbClr val="10201A"/>
                </a:solidFill>
                <a:latin typeface="Helvetica Neue"/>
              </a:rPr>
              <a:t>Stopped before it overspends — with the math.</a:t>
            </a:r>
          </a:p>
        </p:txBody>
      </p:sp>
      <p:sp>
        <p:nvSpPr>
          <p:cNvPr id="5" name="TextBox 4"/>
          <p:cNvSpPr txBox="1"/>
          <p:nvPr/>
        </p:nvSpPr>
        <p:spPr>
          <a:xfrm>
            <a:off x="533400" y="1066800"/>
            <a:ext cx="11125200" cy="247650"/>
          </a:xfrm>
          <a:prstGeom prst="rect">
            <a:avLst/>
          </a:prstGeom>
          <a:noFill/>
        </p:spPr>
        <p:txBody>
          <a:bodyPr wrap="square" anchor="t" lIns="0" rIns="0" tIns="0" bIns="0">
            <a:spAutoFit/>
          </a:bodyPr>
          <a:lstStyle/>
          <a:p>
            <a:pPr algn="l">
              <a:lnSpc>
                <a:spcPct val="105000"/>
              </a:lnSpc>
            </a:pPr>
            <a:r>
              <a:rPr sz="1400" b="0">
                <a:solidFill>
                  <a:srgbClr val="5B6B64"/>
                </a:solidFill>
                <a:latin typeface="Helvetica Neue"/>
              </a:rPr>
              <a:t>The next request needed $0.11 and only $0.06 remained, so nothing was sent.</a:t>
            </a:r>
          </a:p>
        </p:txBody>
      </p:sp>
      <p:pic>
        <p:nvPicPr>
          <p:cNvPr id="6" name="Picture 5" descr="05-budget-pause.png"/>
          <p:cNvPicPr>
            <a:picLocks noChangeAspect="1"/>
          </p:cNvPicPr>
          <p:nvPr/>
        </p:nvPicPr>
        <p:blipFill>
          <a:blip r:embed="rId2"/>
          <a:srcRect b="26849"/>
          <a:stretch>
            <a:fillRect/>
          </a:stretch>
        </p:blipFill>
        <p:spPr>
          <a:xfrm>
            <a:off x="533400" y="1428750"/>
            <a:ext cx="11125200" cy="5086350"/>
          </a:xfrm>
          <a:prstGeom prst="rect">
            <a:avLst/>
          </a:prstGeom>
          <a:ln w="9525">
            <a:solidFill>
              <a:srgbClr val="DFE5E0"/>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5B6B64"/>
                </a:solidFill>
                <a:latin typeface="Menlo"/>
              </a:rPr>
              <a:t>10 / 22</a:t>
            </a:r>
          </a:p>
        </p:txBody>
      </p:sp>
      <p:sp>
        <p:nvSpPr>
          <p:cNvPr id="3" name="TextBox 2"/>
          <p:cNvSpPr txBox="1"/>
          <p:nvPr/>
        </p:nvSpPr>
        <p:spPr>
          <a:xfrm>
            <a:off x="533400" y="381000"/>
            <a:ext cx="9525000" cy="209550"/>
          </a:xfrm>
          <a:prstGeom prst="rect">
            <a:avLst/>
          </a:prstGeom>
          <a:noFill/>
        </p:spPr>
        <p:txBody>
          <a:bodyPr wrap="square" anchor="t" lIns="0" rIns="0" tIns="0" bIns="0">
            <a:spAutoFit/>
          </a:bodyPr>
          <a:lstStyle/>
          <a:p>
            <a:pPr algn="l">
              <a:lnSpc>
                <a:spcPct val="105000"/>
              </a:lnSpc>
            </a:pPr>
            <a:r>
              <a:rPr sz="1000" b="1">
                <a:solidFill>
                  <a:srgbClr val="2F7A55"/>
                </a:solidFill>
                <a:latin typeface="Helvetica Neue"/>
              </a:rPr>
              <a:t>IN THE APP</a:t>
            </a:r>
          </a:p>
        </p:txBody>
      </p:sp>
      <p:sp>
        <p:nvSpPr>
          <p:cNvPr id="4" name="TextBox 3"/>
          <p:cNvSpPr txBox="1"/>
          <p:nvPr/>
        </p:nvSpPr>
        <p:spPr>
          <a:xfrm>
            <a:off x="533400" y="628650"/>
            <a:ext cx="11125200" cy="419100"/>
          </a:xfrm>
          <a:prstGeom prst="rect">
            <a:avLst/>
          </a:prstGeom>
          <a:noFill/>
        </p:spPr>
        <p:txBody>
          <a:bodyPr wrap="square" anchor="t" lIns="0" rIns="0" tIns="0" bIns="0">
            <a:spAutoFit/>
          </a:bodyPr>
          <a:lstStyle/>
          <a:p>
            <a:pPr algn="l">
              <a:lnSpc>
                <a:spcPct val="105000"/>
              </a:lnSpc>
            </a:pPr>
            <a:r>
              <a:rPr sz="2600" b="1">
                <a:solidFill>
                  <a:srgbClr val="10201A"/>
                </a:solidFill>
                <a:latin typeface="Helvetica Neue"/>
              </a:rPr>
              <a:t>Uncertain cost? An honest estimate, never “unknown”.</a:t>
            </a:r>
          </a:p>
        </p:txBody>
      </p:sp>
      <p:sp>
        <p:nvSpPr>
          <p:cNvPr id="5" name="TextBox 4"/>
          <p:cNvSpPr txBox="1"/>
          <p:nvPr/>
        </p:nvSpPr>
        <p:spPr>
          <a:xfrm>
            <a:off x="533400" y="1066800"/>
            <a:ext cx="11125200" cy="247650"/>
          </a:xfrm>
          <a:prstGeom prst="rect">
            <a:avLst/>
          </a:prstGeom>
          <a:noFill/>
        </p:spPr>
        <p:txBody>
          <a:bodyPr wrap="square" anchor="t" lIns="0" rIns="0" tIns="0" bIns="0">
            <a:spAutoFit/>
          </a:bodyPr>
          <a:lstStyle/>
          <a:p>
            <a:pPr algn="l">
              <a:lnSpc>
                <a:spcPct val="105000"/>
              </a:lnSpc>
            </a:pPr>
            <a:r>
              <a:rPr sz="1400" b="0">
                <a:solidFill>
                  <a:srgbClr val="5B6B64"/>
                </a:solidFill>
                <a:latin typeface="Helvetica Neue"/>
              </a:rPr>
              <a:t>Counted as ~$0.06 (estimated), may not have been charged. Retry or stop — never retried on its own.</a:t>
            </a:r>
          </a:p>
        </p:txBody>
      </p:sp>
      <p:pic>
        <p:nvPicPr>
          <p:cNvPr id="6" name="Picture 5" descr="09-estimate.png"/>
          <p:cNvPicPr>
            <a:picLocks noChangeAspect="1"/>
          </p:cNvPicPr>
          <p:nvPr/>
        </p:nvPicPr>
        <p:blipFill>
          <a:blip r:embed="rId2"/>
          <a:srcRect b="26849"/>
          <a:stretch>
            <a:fillRect/>
          </a:stretch>
        </p:blipFill>
        <p:spPr>
          <a:xfrm>
            <a:off x="533400" y="1428750"/>
            <a:ext cx="11125200" cy="5086350"/>
          </a:xfrm>
          <a:prstGeom prst="rect">
            <a:avLst/>
          </a:prstGeom>
          <a:ln w="9525">
            <a:solidFill>
              <a:srgbClr val="DFE5E0"/>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5B6B64"/>
                </a:solidFill>
                <a:latin typeface="Menlo"/>
              </a:rPr>
              <a:t>11 / 22</a:t>
            </a:r>
          </a:p>
        </p:txBody>
      </p:sp>
      <p:sp>
        <p:nvSpPr>
          <p:cNvPr id="3" name="TextBox 2"/>
          <p:cNvSpPr txBox="1"/>
          <p:nvPr/>
        </p:nvSpPr>
        <p:spPr>
          <a:xfrm>
            <a:off x="838200" y="685800"/>
            <a:ext cx="9525000" cy="209550"/>
          </a:xfrm>
          <a:prstGeom prst="rect">
            <a:avLst/>
          </a:prstGeom>
          <a:noFill/>
        </p:spPr>
        <p:txBody>
          <a:bodyPr wrap="square" anchor="t" lIns="0" rIns="0" tIns="0" bIns="0">
            <a:spAutoFit/>
          </a:bodyPr>
          <a:lstStyle/>
          <a:p>
            <a:pPr algn="l">
              <a:lnSpc>
                <a:spcPct val="105000"/>
              </a:lnSpc>
            </a:pPr>
            <a:r>
              <a:rPr sz="1100" b="1">
                <a:solidFill>
                  <a:srgbClr val="2F7A55"/>
                </a:solidFill>
                <a:latin typeface="Helvetica Neue"/>
              </a:rPr>
              <a:t>YOUR DATA STAYS YOURS</a:t>
            </a:r>
          </a:p>
        </p:txBody>
      </p:sp>
      <p:sp>
        <p:nvSpPr>
          <p:cNvPr id="4" name="TextBox 3"/>
          <p:cNvSpPr txBox="1"/>
          <p:nvPr/>
        </p:nvSpPr>
        <p:spPr>
          <a:xfrm>
            <a:off x="838200" y="1066800"/>
            <a:ext cx="10515600" cy="1428750"/>
          </a:xfrm>
          <a:prstGeom prst="rect">
            <a:avLst/>
          </a:prstGeom>
          <a:noFill/>
        </p:spPr>
        <p:txBody>
          <a:bodyPr wrap="square" anchor="t" lIns="0" rIns="0" tIns="0" bIns="0">
            <a:spAutoFit/>
          </a:bodyPr>
          <a:lstStyle/>
          <a:p>
            <a:pPr algn="l">
              <a:lnSpc>
                <a:spcPct val="100000"/>
              </a:lnSpc>
            </a:pPr>
            <a:r>
              <a:rPr sz="4000" b="1">
                <a:solidFill>
                  <a:srgbClr val="10201A"/>
                </a:solidFill>
                <a:latin typeface="Helvetica Neue"/>
              </a:rPr>
              <a:t>Only what you pick </a:t>
            </a:r>
            <a:r>
              <a:rPr sz="4000" b="1">
                <a:solidFill>
                  <a:srgbClr val="2F7A55"/>
                </a:solidFill>
                <a:latin typeface="Helvetica Neue"/>
              </a:rPr>
              <a:t>leaves your Mac.</a:t>
            </a:r>
          </a:p>
        </p:txBody>
      </p:sp>
      <p:sp>
        <p:nvSpPr>
          <p:cNvPr id="5" name="Rounded Rectangle 4"/>
          <p:cNvSpPr/>
          <p:nvPr/>
        </p:nvSpPr>
        <p:spPr>
          <a:xfrm>
            <a:off x="838200" y="3810000"/>
            <a:ext cx="2486025" cy="2438400"/>
          </a:xfrm>
          <a:prstGeom prst="roundRect">
            <a:avLst>
              <a:gd name="adj" fmla="val 8000"/>
            </a:avLst>
          </a:prstGeom>
          <a:solidFill>
            <a:srgbClr val="FFFFFF"/>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7750" y="4019550"/>
            <a:ext cx="2066925"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Stored locally</a:t>
            </a:r>
          </a:p>
        </p:txBody>
      </p:sp>
      <p:sp>
        <p:nvSpPr>
          <p:cNvPr id="7" name="TextBox 6"/>
          <p:cNvSpPr txBox="1"/>
          <p:nvPr/>
        </p:nvSpPr>
        <p:spPr>
          <a:xfrm>
            <a:off x="1047750" y="4324350"/>
            <a:ext cx="2066925" cy="177165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Projects, runs, history and memory live on your computer.</a:t>
            </a:r>
          </a:p>
        </p:txBody>
      </p:sp>
      <p:sp>
        <p:nvSpPr>
          <p:cNvPr id="8" name="Rounded Rectangle 7"/>
          <p:cNvSpPr/>
          <p:nvPr/>
        </p:nvSpPr>
        <p:spPr>
          <a:xfrm>
            <a:off x="3514725" y="3810000"/>
            <a:ext cx="2486025" cy="2438400"/>
          </a:xfrm>
          <a:prstGeom prst="roundRect">
            <a:avLst>
              <a:gd name="adj" fmla="val 8000"/>
            </a:avLst>
          </a:prstGeom>
          <a:solidFill>
            <a:srgbClr val="FFFFFF"/>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24275" y="4019550"/>
            <a:ext cx="2066925"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You choose files</a:t>
            </a:r>
          </a:p>
        </p:txBody>
      </p:sp>
      <p:sp>
        <p:nvSpPr>
          <p:cNvPr id="10" name="TextBox 9"/>
          <p:cNvSpPr txBox="1"/>
          <p:nvPr/>
        </p:nvSpPr>
        <p:spPr>
          <a:xfrm>
            <a:off x="3724275" y="4324350"/>
            <a:ext cx="2066925" cy="177165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Each run lists exactly which files and providers receive context.</a:t>
            </a:r>
          </a:p>
        </p:txBody>
      </p:sp>
      <p:sp>
        <p:nvSpPr>
          <p:cNvPr id="11" name="Rounded Rectangle 10"/>
          <p:cNvSpPr/>
          <p:nvPr/>
        </p:nvSpPr>
        <p:spPr>
          <a:xfrm>
            <a:off x="6191250" y="3810000"/>
            <a:ext cx="2486025" cy="2438400"/>
          </a:xfrm>
          <a:prstGeom prst="roundRect">
            <a:avLst>
              <a:gd name="adj" fmla="val 8000"/>
            </a:avLst>
          </a:prstGeom>
          <a:solidFill>
            <a:srgbClr val="FFFFFF"/>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019550"/>
            <a:ext cx="2066925"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Secrets blocked</a:t>
            </a:r>
          </a:p>
        </p:txBody>
      </p:sp>
      <p:sp>
        <p:nvSpPr>
          <p:cNvPr id="13" name="TextBox 12"/>
          <p:cNvSpPr txBox="1"/>
          <p:nvPr/>
        </p:nvSpPr>
        <p:spPr>
          <a:xfrm>
            <a:off x="6400800" y="4324350"/>
            <a:ext cx="2066925" cy="177165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Key and credential files are refused; files that look like they hold a key need your OK.</a:t>
            </a:r>
          </a:p>
        </p:txBody>
      </p:sp>
      <p:sp>
        <p:nvSpPr>
          <p:cNvPr id="14" name="Rounded Rectangle 13"/>
          <p:cNvSpPr/>
          <p:nvPr/>
        </p:nvSpPr>
        <p:spPr>
          <a:xfrm>
            <a:off x="8867775" y="3810000"/>
            <a:ext cx="2486025" cy="2438400"/>
          </a:xfrm>
          <a:prstGeom prst="roundRect">
            <a:avLst>
              <a:gd name="adj" fmla="val 8000"/>
            </a:avLst>
          </a:prstGeom>
          <a:solidFill>
            <a:srgbClr val="FFFFFF"/>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77325" y="4019550"/>
            <a:ext cx="2066925"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Keys protected</a:t>
            </a:r>
          </a:p>
        </p:txBody>
      </p:sp>
      <p:sp>
        <p:nvSpPr>
          <p:cNvPr id="16" name="TextBox 15"/>
          <p:cNvSpPr txBox="1"/>
          <p:nvPr/>
        </p:nvSpPr>
        <p:spPr>
          <a:xfrm>
            <a:off x="9077325" y="4324350"/>
            <a:ext cx="2066925" cy="177165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API keys sit in the macOS Keychain and never reach logs, exports or the UI.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3221B"/>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A9BBB1"/>
                </a:solidFill>
                <a:latin typeface="Menlo"/>
              </a:rPr>
              <a:t>12 / 22</a:t>
            </a:r>
          </a:p>
        </p:txBody>
      </p:sp>
      <p:sp>
        <p:nvSpPr>
          <p:cNvPr id="3" name="TextBox 2"/>
          <p:cNvSpPr txBox="1"/>
          <p:nvPr/>
        </p:nvSpPr>
        <p:spPr>
          <a:xfrm>
            <a:off x="838200" y="685800"/>
            <a:ext cx="9525000" cy="209550"/>
          </a:xfrm>
          <a:prstGeom prst="rect">
            <a:avLst/>
          </a:prstGeom>
          <a:noFill/>
        </p:spPr>
        <p:txBody>
          <a:bodyPr wrap="square" anchor="t" lIns="0" rIns="0" tIns="0" bIns="0">
            <a:spAutoFit/>
          </a:bodyPr>
          <a:lstStyle/>
          <a:p>
            <a:pPr algn="l">
              <a:lnSpc>
                <a:spcPct val="105000"/>
              </a:lnSpc>
            </a:pPr>
            <a:r>
              <a:rPr sz="1100" b="1">
                <a:solidFill>
                  <a:srgbClr val="8CC79F"/>
                </a:solidFill>
                <a:latin typeface="Helvetica Neue"/>
              </a:rPr>
              <a:t>BRING YOUR OWN KEY</a:t>
            </a:r>
          </a:p>
        </p:txBody>
      </p:sp>
      <p:sp>
        <p:nvSpPr>
          <p:cNvPr id="4" name="TextBox 3"/>
          <p:cNvSpPr txBox="1"/>
          <p:nvPr/>
        </p:nvSpPr>
        <p:spPr>
          <a:xfrm>
            <a:off x="838200" y="1066800"/>
            <a:ext cx="10515600" cy="857250"/>
          </a:xfrm>
          <a:prstGeom prst="rect">
            <a:avLst/>
          </a:prstGeom>
          <a:noFill/>
        </p:spPr>
        <p:txBody>
          <a:bodyPr wrap="square" anchor="t" lIns="0" rIns="0" tIns="0" bIns="0">
            <a:spAutoFit/>
          </a:bodyPr>
          <a:lstStyle/>
          <a:p>
            <a:pPr algn="l">
              <a:lnSpc>
                <a:spcPct val="100000"/>
              </a:lnSpc>
            </a:pPr>
            <a:r>
              <a:rPr sz="4400" b="1">
                <a:solidFill>
                  <a:srgbClr val="EEF5F0"/>
                </a:solidFill>
                <a:latin typeface="Helvetica Neue"/>
              </a:rPr>
              <a:t>Your providers. </a:t>
            </a:r>
            <a:r>
              <a:rPr sz="4400" b="1">
                <a:solidFill>
                  <a:srgbClr val="8CC79F"/>
                </a:solidFill>
                <a:latin typeface="Helvetica Neue"/>
              </a:rPr>
              <a:t>Your contracts.</a:t>
            </a:r>
          </a:p>
        </p:txBody>
      </p:sp>
      <p:sp>
        <p:nvSpPr>
          <p:cNvPr id="5" name="TextBox 4"/>
          <p:cNvSpPr txBox="1"/>
          <p:nvPr/>
        </p:nvSpPr>
        <p:spPr>
          <a:xfrm>
            <a:off x="838200" y="2019300"/>
            <a:ext cx="10001250" cy="666750"/>
          </a:xfrm>
          <a:prstGeom prst="rect">
            <a:avLst/>
          </a:prstGeom>
          <a:noFill/>
        </p:spPr>
        <p:txBody>
          <a:bodyPr wrap="square" anchor="t" lIns="0" rIns="0" tIns="0" bIns="0">
            <a:spAutoFit/>
          </a:bodyPr>
          <a:lstStyle/>
          <a:p>
            <a:pPr algn="l">
              <a:lnSpc>
                <a:spcPct val="130000"/>
              </a:lnSpc>
            </a:pPr>
            <a:r>
              <a:rPr sz="1900" b="0">
                <a:solidFill>
                  <a:srgbClr val="A9BBB1"/>
                </a:solidFill>
                <a:latin typeface="Helvetica Neue"/>
              </a:rPr>
              <a:t>Companies plug in their own keys and pay providers directly. Relay adds the control, not a markup.</a:t>
            </a:r>
          </a:p>
        </p:txBody>
      </p:sp>
      <p:sp>
        <p:nvSpPr>
          <p:cNvPr id="6" name="Rounded Rectangle 5"/>
          <p:cNvSpPr/>
          <p:nvPr/>
        </p:nvSpPr>
        <p:spPr>
          <a:xfrm>
            <a:off x="838200" y="4000500"/>
            <a:ext cx="3378200" cy="2247900"/>
          </a:xfrm>
          <a:prstGeom prst="roundRect">
            <a:avLst>
              <a:gd name="adj" fmla="val 8000"/>
            </a:avLst>
          </a:prstGeom>
          <a:solidFill>
            <a:srgbClr val="1E2E26"/>
          </a:solidFill>
          <a:ln w="9525">
            <a:solidFill>
              <a:srgbClr val="2A3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4210050"/>
            <a:ext cx="2959100" cy="533400"/>
          </a:xfrm>
          <a:prstGeom prst="rect">
            <a:avLst/>
          </a:prstGeom>
          <a:noFill/>
        </p:spPr>
        <p:txBody>
          <a:bodyPr wrap="square" anchor="t" lIns="0" rIns="0" tIns="0" bIns="0">
            <a:spAutoFit/>
          </a:bodyPr>
          <a:lstStyle/>
          <a:p>
            <a:pPr algn="l">
              <a:lnSpc>
                <a:spcPct val="105000"/>
              </a:lnSpc>
            </a:pPr>
            <a:r>
              <a:rPr sz="2400" b="1">
                <a:solidFill>
                  <a:srgbClr val="EEF5F0"/>
                </a:solidFill>
                <a:latin typeface="Helvetica Neue"/>
              </a:rPr>
              <a:t>Anthropic</a:t>
            </a:r>
          </a:p>
        </p:txBody>
      </p:sp>
      <p:sp>
        <p:nvSpPr>
          <p:cNvPr id="8" name="TextBox 7"/>
          <p:cNvSpPr txBox="1"/>
          <p:nvPr/>
        </p:nvSpPr>
        <p:spPr>
          <a:xfrm>
            <a:off x="1047750" y="4743450"/>
            <a:ext cx="2959100" cy="1352550"/>
          </a:xfrm>
          <a:prstGeom prst="rect">
            <a:avLst/>
          </a:prstGeom>
          <a:noFill/>
        </p:spPr>
        <p:txBody>
          <a:bodyPr wrap="square" anchor="t" lIns="0" rIns="0" tIns="0" bIns="0">
            <a:spAutoFit/>
          </a:bodyPr>
          <a:lstStyle/>
          <a:p>
            <a:pPr algn="l">
              <a:lnSpc>
                <a:spcPct val="120000"/>
              </a:lnSpc>
            </a:pPr>
            <a:r>
              <a:rPr sz="1200" b="0">
                <a:solidFill>
                  <a:srgbClr val="A9BBB1"/>
                </a:solidFill>
                <a:latin typeface="Helvetica Neue"/>
              </a:rPr>
              <a:t>Claude models</a:t>
            </a:r>
          </a:p>
        </p:txBody>
      </p:sp>
      <p:sp>
        <p:nvSpPr>
          <p:cNvPr id="9" name="Rounded Rectangle 8"/>
          <p:cNvSpPr/>
          <p:nvPr/>
        </p:nvSpPr>
        <p:spPr>
          <a:xfrm>
            <a:off x="4406900" y="4000500"/>
            <a:ext cx="3378200" cy="2247900"/>
          </a:xfrm>
          <a:prstGeom prst="roundRect">
            <a:avLst>
              <a:gd name="adj" fmla="val 8000"/>
            </a:avLst>
          </a:prstGeom>
          <a:solidFill>
            <a:srgbClr val="1E2E26"/>
          </a:solidFill>
          <a:ln w="9525">
            <a:solidFill>
              <a:srgbClr val="2A3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6450" y="4210050"/>
            <a:ext cx="2959100" cy="533400"/>
          </a:xfrm>
          <a:prstGeom prst="rect">
            <a:avLst/>
          </a:prstGeom>
          <a:noFill/>
        </p:spPr>
        <p:txBody>
          <a:bodyPr wrap="square" anchor="t" lIns="0" rIns="0" tIns="0" bIns="0">
            <a:spAutoFit/>
          </a:bodyPr>
          <a:lstStyle/>
          <a:p>
            <a:pPr algn="l">
              <a:lnSpc>
                <a:spcPct val="105000"/>
              </a:lnSpc>
            </a:pPr>
            <a:r>
              <a:rPr sz="3000" b="1">
                <a:solidFill>
                  <a:srgbClr val="EEF5F0"/>
                </a:solidFill>
                <a:latin typeface="Helvetica Neue"/>
              </a:rPr>
              <a:t>OpenAI</a:t>
            </a:r>
          </a:p>
        </p:txBody>
      </p:sp>
      <p:sp>
        <p:nvSpPr>
          <p:cNvPr id="11" name="TextBox 10"/>
          <p:cNvSpPr txBox="1"/>
          <p:nvPr/>
        </p:nvSpPr>
        <p:spPr>
          <a:xfrm>
            <a:off x="4616450" y="4743450"/>
            <a:ext cx="2959100" cy="1352550"/>
          </a:xfrm>
          <a:prstGeom prst="rect">
            <a:avLst/>
          </a:prstGeom>
          <a:noFill/>
        </p:spPr>
        <p:txBody>
          <a:bodyPr wrap="square" anchor="t" lIns="0" rIns="0" tIns="0" bIns="0">
            <a:spAutoFit/>
          </a:bodyPr>
          <a:lstStyle/>
          <a:p>
            <a:pPr algn="l">
              <a:lnSpc>
                <a:spcPct val="120000"/>
              </a:lnSpc>
            </a:pPr>
            <a:r>
              <a:rPr sz="1200" b="0">
                <a:solidFill>
                  <a:srgbClr val="A9BBB1"/>
                </a:solidFill>
                <a:latin typeface="Helvetica Neue"/>
              </a:rPr>
              <a:t>GPT models</a:t>
            </a:r>
          </a:p>
        </p:txBody>
      </p:sp>
      <p:sp>
        <p:nvSpPr>
          <p:cNvPr id="12" name="Rounded Rectangle 11"/>
          <p:cNvSpPr/>
          <p:nvPr/>
        </p:nvSpPr>
        <p:spPr>
          <a:xfrm>
            <a:off x="7975600" y="4000500"/>
            <a:ext cx="3378200" cy="2247900"/>
          </a:xfrm>
          <a:prstGeom prst="roundRect">
            <a:avLst>
              <a:gd name="adj" fmla="val 8000"/>
            </a:avLst>
          </a:prstGeom>
          <a:solidFill>
            <a:srgbClr val="1E2E26"/>
          </a:solidFill>
          <a:ln w="9525">
            <a:solidFill>
              <a:srgbClr val="2A3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5150" y="4210050"/>
            <a:ext cx="2959100" cy="533400"/>
          </a:xfrm>
          <a:prstGeom prst="rect">
            <a:avLst/>
          </a:prstGeom>
          <a:noFill/>
        </p:spPr>
        <p:txBody>
          <a:bodyPr wrap="square" anchor="t" lIns="0" rIns="0" tIns="0" bIns="0">
            <a:spAutoFit/>
          </a:bodyPr>
          <a:lstStyle/>
          <a:p>
            <a:pPr algn="l">
              <a:lnSpc>
                <a:spcPct val="105000"/>
              </a:lnSpc>
            </a:pPr>
            <a:r>
              <a:rPr sz="3000" b="1">
                <a:solidFill>
                  <a:srgbClr val="EEF5F0"/>
                </a:solidFill>
                <a:latin typeface="Helvetica Neue"/>
              </a:rPr>
              <a:t>Gemini</a:t>
            </a:r>
          </a:p>
        </p:txBody>
      </p:sp>
      <p:sp>
        <p:nvSpPr>
          <p:cNvPr id="14" name="TextBox 13"/>
          <p:cNvSpPr txBox="1"/>
          <p:nvPr/>
        </p:nvSpPr>
        <p:spPr>
          <a:xfrm>
            <a:off x="8185150" y="4743450"/>
            <a:ext cx="2959100" cy="1352550"/>
          </a:xfrm>
          <a:prstGeom prst="rect">
            <a:avLst/>
          </a:prstGeom>
          <a:noFill/>
        </p:spPr>
        <p:txBody>
          <a:bodyPr wrap="square" anchor="t" lIns="0" rIns="0" tIns="0" bIns="0">
            <a:spAutoFit/>
          </a:bodyPr>
          <a:lstStyle/>
          <a:p>
            <a:pPr algn="l">
              <a:lnSpc>
                <a:spcPct val="120000"/>
              </a:lnSpc>
            </a:pPr>
            <a:r>
              <a:rPr sz="1200" b="0">
                <a:solidFill>
                  <a:srgbClr val="A9BBB1"/>
                </a:solidFill>
                <a:latin typeface="Helvetica Neue"/>
              </a:rPr>
              <a:t>Google models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5B6B64"/>
                </a:solidFill>
                <a:latin typeface="Menlo"/>
              </a:rPr>
              <a:t>13 / 22</a:t>
            </a:r>
          </a:p>
        </p:txBody>
      </p:sp>
      <p:sp>
        <p:nvSpPr>
          <p:cNvPr id="3" name="TextBox 2"/>
          <p:cNvSpPr txBox="1"/>
          <p:nvPr/>
        </p:nvSpPr>
        <p:spPr>
          <a:xfrm>
            <a:off x="533400" y="381000"/>
            <a:ext cx="9525000" cy="209550"/>
          </a:xfrm>
          <a:prstGeom prst="rect">
            <a:avLst/>
          </a:prstGeom>
          <a:noFill/>
        </p:spPr>
        <p:txBody>
          <a:bodyPr wrap="square" anchor="t" lIns="0" rIns="0" tIns="0" bIns="0">
            <a:spAutoFit/>
          </a:bodyPr>
          <a:lstStyle/>
          <a:p>
            <a:pPr algn="l">
              <a:lnSpc>
                <a:spcPct val="105000"/>
              </a:lnSpc>
            </a:pPr>
            <a:r>
              <a:rPr sz="1000" b="1">
                <a:solidFill>
                  <a:srgbClr val="2F7A55"/>
                </a:solidFill>
                <a:latin typeface="Helvetica Neue"/>
              </a:rPr>
              <a:t>IN THE APP</a:t>
            </a:r>
          </a:p>
        </p:txBody>
      </p:sp>
      <p:sp>
        <p:nvSpPr>
          <p:cNvPr id="4" name="TextBox 3"/>
          <p:cNvSpPr txBox="1"/>
          <p:nvPr/>
        </p:nvSpPr>
        <p:spPr>
          <a:xfrm>
            <a:off x="533400" y="628650"/>
            <a:ext cx="11125200" cy="419100"/>
          </a:xfrm>
          <a:prstGeom prst="rect">
            <a:avLst/>
          </a:prstGeom>
          <a:noFill/>
        </p:spPr>
        <p:txBody>
          <a:bodyPr wrap="square" anchor="t" lIns="0" rIns="0" tIns="0" bIns="0">
            <a:spAutoFit/>
          </a:bodyPr>
          <a:lstStyle/>
          <a:p>
            <a:pPr algn="l">
              <a:lnSpc>
                <a:spcPct val="105000"/>
              </a:lnSpc>
            </a:pPr>
            <a:r>
              <a:rPr sz="2600" b="1">
                <a:solidFill>
                  <a:srgbClr val="10201A"/>
                </a:solidFill>
                <a:latin typeface="Helvetica Neue"/>
              </a:rPr>
              <a:t>Pick a model and an output limit for every step.</a:t>
            </a:r>
          </a:p>
        </p:txBody>
      </p:sp>
      <p:sp>
        <p:nvSpPr>
          <p:cNvPr id="5" name="TextBox 4"/>
          <p:cNvSpPr txBox="1"/>
          <p:nvPr/>
        </p:nvSpPr>
        <p:spPr>
          <a:xfrm>
            <a:off x="533400" y="1066800"/>
            <a:ext cx="11125200" cy="247650"/>
          </a:xfrm>
          <a:prstGeom prst="rect">
            <a:avLst/>
          </a:prstGeom>
          <a:noFill/>
        </p:spPr>
        <p:txBody>
          <a:bodyPr wrap="square" anchor="t" lIns="0" rIns="0" tIns="0" bIns="0">
            <a:spAutoFit/>
          </a:bodyPr>
          <a:lstStyle/>
          <a:p>
            <a:pPr algn="l">
              <a:lnSpc>
                <a:spcPct val="105000"/>
              </a:lnSpc>
            </a:pPr>
            <a:r>
              <a:rPr sz="1400" b="0">
                <a:solidFill>
                  <a:srgbClr val="5B6B64"/>
                </a:solidFill>
                <a:latin typeface="Helvetica Neue"/>
              </a:rPr>
              <a:t>Each step can use a different provider and model, with a sensible default limit.</a:t>
            </a:r>
          </a:p>
        </p:txBody>
      </p:sp>
      <p:pic>
        <p:nvPicPr>
          <p:cNvPr id="6" name="Picture 5" descr="03-new-run-limits.png"/>
          <p:cNvPicPr>
            <a:picLocks noChangeAspect="1"/>
          </p:cNvPicPr>
          <p:nvPr/>
        </p:nvPicPr>
        <p:blipFill>
          <a:blip r:embed="rId2"/>
          <a:srcRect b="26849"/>
          <a:stretch>
            <a:fillRect/>
          </a:stretch>
        </p:blipFill>
        <p:spPr>
          <a:xfrm>
            <a:off x="533400" y="1428750"/>
            <a:ext cx="11125200" cy="5086350"/>
          </a:xfrm>
          <a:prstGeom prst="rect">
            <a:avLst/>
          </a:prstGeom>
          <a:ln w="9525">
            <a:solidFill>
              <a:srgbClr val="DFE5E0"/>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5B6B64"/>
                </a:solidFill>
                <a:latin typeface="Menlo"/>
              </a:rPr>
              <a:t>14 / 22</a:t>
            </a:r>
          </a:p>
        </p:txBody>
      </p:sp>
      <p:sp>
        <p:nvSpPr>
          <p:cNvPr id="3" name="TextBox 2"/>
          <p:cNvSpPr txBox="1"/>
          <p:nvPr/>
        </p:nvSpPr>
        <p:spPr>
          <a:xfrm>
            <a:off x="533400" y="381000"/>
            <a:ext cx="9525000" cy="209550"/>
          </a:xfrm>
          <a:prstGeom prst="rect">
            <a:avLst/>
          </a:prstGeom>
          <a:noFill/>
        </p:spPr>
        <p:txBody>
          <a:bodyPr wrap="square" anchor="t" lIns="0" rIns="0" tIns="0" bIns="0">
            <a:spAutoFit/>
          </a:bodyPr>
          <a:lstStyle/>
          <a:p>
            <a:pPr algn="l">
              <a:lnSpc>
                <a:spcPct val="105000"/>
              </a:lnSpc>
            </a:pPr>
            <a:r>
              <a:rPr sz="1000" b="1">
                <a:solidFill>
                  <a:srgbClr val="2F7A55"/>
                </a:solidFill>
                <a:latin typeface="Helvetica Neue"/>
              </a:rPr>
              <a:t>IN THE APP</a:t>
            </a:r>
          </a:p>
        </p:txBody>
      </p:sp>
      <p:sp>
        <p:nvSpPr>
          <p:cNvPr id="4" name="TextBox 3"/>
          <p:cNvSpPr txBox="1"/>
          <p:nvPr/>
        </p:nvSpPr>
        <p:spPr>
          <a:xfrm>
            <a:off x="533400" y="628650"/>
            <a:ext cx="11125200" cy="419100"/>
          </a:xfrm>
          <a:prstGeom prst="rect">
            <a:avLst/>
          </a:prstGeom>
          <a:noFill/>
        </p:spPr>
        <p:txBody>
          <a:bodyPr wrap="square" anchor="t" lIns="0" rIns="0" tIns="0" bIns="0">
            <a:spAutoFit/>
          </a:bodyPr>
          <a:lstStyle/>
          <a:p>
            <a:pPr algn="l">
              <a:lnSpc>
                <a:spcPct val="105000"/>
              </a:lnSpc>
            </a:pPr>
            <a:r>
              <a:rPr sz="2600" b="1">
                <a:solidFill>
                  <a:srgbClr val="10201A"/>
                </a:solidFill>
                <a:latin typeface="Helvetica Neue"/>
              </a:rPr>
              <a:t>Connect your own providers in a minute.</a:t>
            </a:r>
          </a:p>
        </p:txBody>
      </p:sp>
      <p:sp>
        <p:nvSpPr>
          <p:cNvPr id="5" name="TextBox 4"/>
          <p:cNvSpPr txBox="1"/>
          <p:nvPr/>
        </p:nvSpPr>
        <p:spPr>
          <a:xfrm>
            <a:off x="533400" y="1066800"/>
            <a:ext cx="11125200" cy="247650"/>
          </a:xfrm>
          <a:prstGeom prst="rect">
            <a:avLst/>
          </a:prstGeom>
          <a:noFill/>
        </p:spPr>
        <p:txBody>
          <a:bodyPr wrap="square" anchor="t" lIns="0" rIns="0" tIns="0" bIns="0">
            <a:spAutoFit/>
          </a:bodyPr>
          <a:lstStyle/>
          <a:p>
            <a:pPr algn="l">
              <a:lnSpc>
                <a:spcPct val="105000"/>
              </a:lnSpc>
            </a:pPr>
            <a:r>
              <a:rPr sz="1400" b="0">
                <a:solidFill>
                  <a:srgbClr val="5B6B64"/>
                </a:solidFill>
                <a:latin typeface="Helvetica Neue"/>
              </a:rPr>
              <a:t>Keys are tested, stored in the macOS Keychain, and only a redacted label is ever shown.</a:t>
            </a:r>
          </a:p>
        </p:txBody>
      </p:sp>
      <p:pic>
        <p:nvPicPr>
          <p:cNvPr id="6" name="Picture 5" descr="08-providers.png"/>
          <p:cNvPicPr>
            <a:picLocks noChangeAspect="1"/>
          </p:cNvPicPr>
          <p:nvPr/>
        </p:nvPicPr>
        <p:blipFill>
          <a:blip r:embed="rId2"/>
          <a:srcRect b="26849"/>
          <a:stretch>
            <a:fillRect/>
          </a:stretch>
        </p:blipFill>
        <p:spPr>
          <a:xfrm>
            <a:off x="533400" y="1428750"/>
            <a:ext cx="11125200" cy="5086350"/>
          </a:xfrm>
          <a:prstGeom prst="rect">
            <a:avLst/>
          </a:prstGeom>
          <a:ln w="9525">
            <a:solidFill>
              <a:srgbClr val="DFE5E0"/>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5B6B64"/>
                </a:solidFill>
                <a:latin typeface="Menlo"/>
              </a:rPr>
              <a:t>15 / 22</a:t>
            </a:r>
          </a:p>
        </p:txBody>
      </p:sp>
      <p:sp>
        <p:nvSpPr>
          <p:cNvPr id="3" name="TextBox 2"/>
          <p:cNvSpPr txBox="1"/>
          <p:nvPr/>
        </p:nvSpPr>
        <p:spPr>
          <a:xfrm>
            <a:off x="838200" y="685800"/>
            <a:ext cx="9525000" cy="209550"/>
          </a:xfrm>
          <a:prstGeom prst="rect">
            <a:avLst/>
          </a:prstGeom>
          <a:noFill/>
        </p:spPr>
        <p:txBody>
          <a:bodyPr wrap="square" anchor="t" lIns="0" rIns="0" tIns="0" bIns="0">
            <a:spAutoFit/>
          </a:bodyPr>
          <a:lstStyle/>
          <a:p>
            <a:pPr algn="l">
              <a:lnSpc>
                <a:spcPct val="105000"/>
              </a:lnSpc>
            </a:pPr>
            <a:r>
              <a:rPr sz="1100" b="1">
                <a:solidFill>
                  <a:srgbClr val="2F7A55"/>
                </a:solidFill>
                <a:latin typeface="Helvetica Neue"/>
              </a:rPr>
              <a:t>ALWAYS IN CONTROL</a:t>
            </a:r>
          </a:p>
        </p:txBody>
      </p:sp>
      <p:sp>
        <p:nvSpPr>
          <p:cNvPr id="4" name="TextBox 3"/>
          <p:cNvSpPr txBox="1"/>
          <p:nvPr/>
        </p:nvSpPr>
        <p:spPr>
          <a:xfrm>
            <a:off x="838200" y="1066800"/>
            <a:ext cx="10515600" cy="1428750"/>
          </a:xfrm>
          <a:prstGeom prst="rect">
            <a:avLst/>
          </a:prstGeom>
          <a:noFill/>
        </p:spPr>
        <p:txBody>
          <a:bodyPr wrap="square" anchor="t" lIns="0" rIns="0" tIns="0" bIns="0">
            <a:spAutoFit/>
          </a:bodyPr>
          <a:lstStyle/>
          <a:p>
            <a:pPr algn="l">
              <a:lnSpc>
                <a:spcPct val="100000"/>
              </a:lnSpc>
            </a:pPr>
            <a:r>
              <a:rPr sz="4000" b="1">
                <a:solidFill>
                  <a:srgbClr val="10201A"/>
                </a:solidFill>
                <a:latin typeface="Helvetica Neue"/>
              </a:rPr>
              <a:t>Pause, export, recover — </a:t>
            </a:r>
            <a:r>
              <a:rPr sz="4000" b="1">
                <a:solidFill>
                  <a:srgbClr val="2F7A55"/>
                </a:solidFill>
                <a:latin typeface="Helvetica Neue"/>
              </a:rPr>
              <a:t>at any point.</a:t>
            </a:r>
          </a:p>
        </p:txBody>
      </p:sp>
      <p:sp>
        <p:nvSpPr>
          <p:cNvPr id="5" name="Rounded Rectangle 4"/>
          <p:cNvSpPr/>
          <p:nvPr/>
        </p:nvSpPr>
        <p:spPr>
          <a:xfrm>
            <a:off x="838200" y="3810000"/>
            <a:ext cx="2486025" cy="2438400"/>
          </a:xfrm>
          <a:prstGeom prst="roundRect">
            <a:avLst>
              <a:gd name="adj" fmla="val 8000"/>
            </a:avLst>
          </a:prstGeom>
          <a:solidFill>
            <a:srgbClr val="FFFFFF"/>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7750" y="4019550"/>
            <a:ext cx="2066925"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Pause &amp; resume</a:t>
            </a:r>
          </a:p>
        </p:txBody>
      </p:sp>
      <p:sp>
        <p:nvSpPr>
          <p:cNvPr id="7" name="TextBox 6"/>
          <p:cNvSpPr txBox="1"/>
          <p:nvPr/>
        </p:nvSpPr>
        <p:spPr>
          <a:xfrm>
            <a:off x="1047750" y="4324350"/>
            <a:ext cx="2066925" cy="177165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Stops after the current request and picks up exactly where it left off.</a:t>
            </a:r>
          </a:p>
        </p:txBody>
      </p:sp>
      <p:sp>
        <p:nvSpPr>
          <p:cNvPr id="8" name="Rounded Rectangle 7"/>
          <p:cNvSpPr/>
          <p:nvPr/>
        </p:nvSpPr>
        <p:spPr>
          <a:xfrm>
            <a:off x="3514725" y="3810000"/>
            <a:ext cx="2486025" cy="2438400"/>
          </a:xfrm>
          <a:prstGeom prst="roundRect">
            <a:avLst>
              <a:gd name="adj" fmla="val 8000"/>
            </a:avLst>
          </a:prstGeom>
          <a:solidFill>
            <a:srgbClr val="FFFFFF"/>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24275" y="4019550"/>
            <a:ext cx="2066925"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Export anytime</a:t>
            </a:r>
          </a:p>
        </p:txBody>
      </p:sp>
      <p:sp>
        <p:nvSpPr>
          <p:cNvPr id="10" name="TextBox 9"/>
          <p:cNvSpPr txBox="1"/>
          <p:nvPr/>
        </p:nvSpPr>
        <p:spPr>
          <a:xfrm>
            <a:off x="3724275" y="4324350"/>
            <a:ext cx="2066925" cy="177165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Save everything finished so far, even mid-run.</a:t>
            </a:r>
          </a:p>
        </p:txBody>
      </p:sp>
      <p:sp>
        <p:nvSpPr>
          <p:cNvPr id="11" name="Rounded Rectangle 10"/>
          <p:cNvSpPr/>
          <p:nvPr/>
        </p:nvSpPr>
        <p:spPr>
          <a:xfrm>
            <a:off x="6191250" y="3810000"/>
            <a:ext cx="2486025" cy="2438400"/>
          </a:xfrm>
          <a:prstGeom prst="roundRect">
            <a:avLst>
              <a:gd name="adj" fmla="val 8000"/>
            </a:avLst>
          </a:prstGeom>
          <a:solidFill>
            <a:srgbClr val="FFFFFF"/>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019550"/>
            <a:ext cx="2066925"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Crash recovery</a:t>
            </a:r>
          </a:p>
        </p:txBody>
      </p:sp>
      <p:sp>
        <p:nvSpPr>
          <p:cNvPr id="13" name="TextBox 12"/>
          <p:cNvSpPr txBox="1"/>
          <p:nvPr/>
        </p:nvSpPr>
        <p:spPr>
          <a:xfrm>
            <a:off x="6400800" y="4324350"/>
            <a:ext cx="2066925" cy="177165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A crash or quit leaves runs safe and resumable.</a:t>
            </a:r>
          </a:p>
        </p:txBody>
      </p:sp>
      <p:sp>
        <p:nvSpPr>
          <p:cNvPr id="14" name="Rounded Rectangle 13"/>
          <p:cNvSpPr/>
          <p:nvPr/>
        </p:nvSpPr>
        <p:spPr>
          <a:xfrm>
            <a:off x="8867775" y="3810000"/>
            <a:ext cx="2486025" cy="2438400"/>
          </a:xfrm>
          <a:prstGeom prst="roundRect">
            <a:avLst>
              <a:gd name="adj" fmla="val 8000"/>
            </a:avLst>
          </a:prstGeom>
          <a:solidFill>
            <a:srgbClr val="FFFFFF"/>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77325" y="4019550"/>
            <a:ext cx="2066925"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Backups</a:t>
            </a:r>
          </a:p>
        </p:txBody>
      </p:sp>
      <p:sp>
        <p:nvSpPr>
          <p:cNvPr id="16" name="TextBox 15"/>
          <p:cNvSpPr txBox="1"/>
          <p:nvPr/>
        </p:nvSpPr>
        <p:spPr>
          <a:xfrm>
            <a:off x="9077325" y="4324350"/>
            <a:ext cx="2066925" cy="177165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Daily automatic backups, one-click restore.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5B6B64"/>
                </a:solidFill>
                <a:latin typeface="Menlo"/>
              </a:rPr>
              <a:t>16 / 22</a:t>
            </a:r>
          </a:p>
        </p:txBody>
      </p:sp>
      <p:sp>
        <p:nvSpPr>
          <p:cNvPr id="3" name="TextBox 2"/>
          <p:cNvSpPr txBox="1"/>
          <p:nvPr/>
        </p:nvSpPr>
        <p:spPr>
          <a:xfrm>
            <a:off x="838200" y="685800"/>
            <a:ext cx="9525000" cy="209550"/>
          </a:xfrm>
          <a:prstGeom prst="rect">
            <a:avLst/>
          </a:prstGeom>
          <a:noFill/>
        </p:spPr>
        <p:txBody>
          <a:bodyPr wrap="square" anchor="t" lIns="0" rIns="0" tIns="0" bIns="0">
            <a:spAutoFit/>
          </a:bodyPr>
          <a:lstStyle/>
          <a:p>
            <a:pPr algn="l">
              <a:lnSpc>
                <a:spcPct val="105000"/>
              </a:lnSpc>
            </a:pPr>
            <a:r>
              <a:rPr sz="1100" b="1">
                <a:solidFill>
                  <a:srgbClr val="2F7A55"/>
                </a:solidFill>
                <a:latin typeface="Helvetica Neue"/>
              </a:rPr>
              <a:t>PROJECT MEMORY</a:t>
            </a:r>
          </a:p>
        </p:txBody>
      </p:sp>
      <p:sp>
        <p:nvSpPr>
          <p:cNvPr id="4" name="TextBox 3"/>
          <p:cNvSpPr txBox="1"/>
          <p:nvPr/>
        </p:nvSpPr>
        <p:spPr>
          <a:xfrm>
            <a:off x="838200" y="1066800"/>
            <a:ext cx="10515600" cy="1428750"/>
          </a:xfrm>
          <a:prstGeom prst="rect">
            <a:avLst/>
          </a:prstGeom>
          <a:noFill/>
        </p:spPr>
        <p:txBody>
          <a:bodyPr wrap="square" anchor="t" lIns="0" rIns="0" tIns="0" bIns="0">
            <a:spAutoFit/>
          </a:bodyPr>
          <a:lstStyle/>
          <a:p>
            <a:pPr algn="l">
              <a:lnSpc>
                <a:spcPct val="100000"/>
              </a:lnSpc>
            </a:pPr>
            <a:r>
              <a:rPr sz="4000" b="1">
                <a:solidFill>
                  <a:srgbClr val="10201A"/>
                </a:solidFill>
                <a:latin typeface="Helvetica Neue"/>
              </a:rPr>
              <a:t>It learns your project's rules — </a:t>
            </a:r>
            <a:r>
              <a:rPr sz="4000" b="1">
                <a:solidFill>
                  <a:srgbClr val="2F7A55"/>
                </a:solidFill>
                <a:latin typeface="Helvetica Neue"/>
              </a:rPr>
              <a:t>only with your approval.</a:t>
            </a:r>
          </a:p>
        </p:txBody>
      </p:sp>
      <p:sp>
        <p:nvSpPr>
          <p:cNvPr id="5" name="TextBox 4"/>
          <p:cNvSpPr txBox="1"/>
          <p:nvPr/>
        </p:nvSpPr>
        <p:spPr>
          <a:xfrm>
            <a:off x="838200" y="2590800"/>
            <a:ext cx="10477500" cy="2857500"/>
          </a:xfrm>
          <a:prstGeom prst="rect">
            <a:avLst/>
          </a:prstGeom>
          <a:noFill/>
        </p:spPr>
        <p:txBody>
          <a:bodyPr wrap="square" anchor="t" lIns="0" rIns="0" tIns="0" bIns="0">
            <a:spAutoFit/>
          </a:bodyPr>
          <a:lstStyle/>
          <a:p>
            <a:pPr algn="l">
              <a:lnSpc>
                <a:spcPct val="170000"/>
              </a:lnSpc>
            </a:pPr>
            <a:r>
              <a:rPr sz="2200" b="0">
                <a:solidFill>
                  <a:srgbClr val="2F7A55"/>
                </a:solidFill>
                <a:latin typeface="Helvetica Neue"/>
              </a:rPr>
              <a:t>—  </a:t>
            </a:r>
            <a:r>
              <a:rPr sz="2200" b="0">
                <a:solidFill>
                  <a:srgbClr val="5B6B64"/>
                </a:solidFill>
                <a:latin typeface="Helvetica Neue"/>
              </a:rPr>
              <a:t>Approved rules are reused in future runs.</a:t>
            </a:r>
          </a:p>
          <a:p>
            <a:pPr algn="l">
              <a:lnSpc>
                <a:spcPct val="170000"/>
              </a:lnSpc>
            </a:pPr>
            <a:r>
              <a:rPr sz="2200" b="0">
                <a:solidFill>
                  <a:srgbClr val="2F7A55"/>
                </a:solidFill>
                <a:latin typeface="Helvetica Neue"/>
              </a:rPr>
              <a:t>—  </a:t>
            </a:r>
            <a:r>
              <a:rPr sz="2200" b="0">
                <a:solidFill>
                  <a:srgbClr val="5B6B64"/>
                </a:solidFill>
                <a:latin typeface="Helvetica Neue"/>
              </a:rPr>
              <a:t>Runs suggest new rules; nothing is added automatically.</a:t>
            </a:r>
          </a:p>
          <a:p>
            <a:pPr algn="l">
              <a:lnSpc>
                <a:spcPct val="170000"/>
              </a:lnSpc>
            </a:pPr>
            <a:r>
              <a:rPr sz="2200" b="0">
                <a:solidFill>
                  <a:srgbClr val="2F7A55"/>
                </a:solidFill>
                <a:latin typeface="Helvetica Neue"/>
              </a:rPr>
              <a:t>—  </a:t>
            </a:r>
            <a:r>
              <a:rPr sz="2200" b="0">
                <a:solidFill>
                  <a:srgbClr val="5B6B64"/>
                </a:solidFill>
                <a:latin typeface="Helvetica Neue"/>
              </a:rPr>
              <a:t>Every rule has a source, a history and a review date.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5B6B64"/>
                </a:solidFill>
                <a:latin typeface="Menlo"/>
              </a:rPr>
              <a:t>17 / 22</a:t>
            </a:r>
          </a:p>
        </p:txBody>
      </p:sp>
      <p:sp>
        <p:nvSpPr>
          <p:cNvPr id="3" name="TextBox 2"/>
          <p:cNvSpPr txBox="1"/>
          <p:nvPr/>
        </p:nvSpPr>
        <p:spPr>
          <a:xfrm>
            <a:off x="533400" y="381000"/>
            <a:ext cx="9525000" cy="209550"/>
          </a:xfrm>
          <a:prstGeom prst="rect">
            <a:avLst/>
          </a:prstGeom>
          <a:noFill/>
        </p:spPr>
        <p:txBody>
          <a:bodyPr wrap="square" anchor="t" lIns="0" rIns="0" tIns="0" bIns="0">
            <a:spAutoFit/>
          </a:bodyPr>
          <a:lstStyle/>
          <a:p>
            <a:pPr algn="l">
              <a:lnSpc>
                <a:spcPct val="105000"/>
              </a:lnSpc>
            </a:pPr>
            <a:r>
              <a:rPr sz="1000" b="1">
                <a:solidFill>
                  <a:srgbClr val="2F7A55"/>
                </a:solidFill>
                <a:latin typeface="Helvetica Neue"/>
              </a:rPr>
              <a:t>IN THE APP</a:t>
            </a:r>
          </a:p>
        </p:txBody>
      </p:sp>
      <p:sp>
        <p:nvSpPr>
          <p:cNvPr id="4" name="TextBox 3"/>
          <p:cNvSpPr txBox="1"/>
          <p:nvPr/>
        </p:nvSpPr>
        <p:spPr>
          <a:xfrm>
            <a:off x="533400" y="628650"/>
            <a:ext cx="11125200" cy="419100"/>
          </a:xfrm>
          <a:prstGeom prst="rect">
            <a:avLst/>
          </a:prstGeom>
          <a:noFill/>
        </p:spPr>
        <p:txBody>
          <a:bodyPr wrap="square" anchor="t" lIns="0" rIns="0" tIns="0" bIns="0">
            <a:spAutoFit/>
          </a:bodyPr>
          <a:lstStyle/>
          <a:p>
            <a:pPr algn="l">
              <a:lnSpc>
                <a:spcPct val="105000"/>
              </a:lnSpc>
            </a:pPr>
            <a:r>
              <a:rPr sz="2600" b="1">
                <a:solidFill>
                  <a:srgbClr val="10201A"/>
                </a:solidFill>
                <a:latin typeface="Helvetica Neue"/>
              </a:rPr>
              <a:t>Every run ends in a clear report.</a:t>
            </a:r>
          </a:p>
        </p:txBody>
      </p:sp>
      <p:sp>
        <p:nvSpPr>
          <p:cNvPr id="5" name="TextBox 4"/>
          <p:cNvSpPr txBox="1"/>
          <p:nvPr/>
        </p:nvSpPr>
        <p:spPr>
          <a:xfrm>
            <a:off x="533400" y="1066800"/>
            <a:ext cx="11125200" cy="247650"/>
          </a:xfrm>
          <a:prstGeom prst="rect">
            <a:avLst/>
          </a:prstGeom>
          <a:noFill/>
        </p:spPr>
        <p:txBody>
          <a:bodyPr wrap="square" anchor="t" lIns="0" rIns="0" tIns="0" bIns="0">
            <a:spAutoFit/>
          </a:bodyPr>
          <a:lstStyle/>
          <a:p>
            <a:pPr algn="l">
              <a:lnSpc>
                <a:spcPct val="105000"/>
              </a:lnSpc>
            </a:pPr>
            <a:r>
              <a:rPr sz="1400" b="0">
                <a:solidFill>
                  <a:srgbClr val="5B6B64"/>
                </a:solidFill>
                <a:latin typeface="Helvetica Neue"/>
              </a:rPr>
              <a:t>Findings, approvals, revisions, limitations and the tracked cost — exportable as Markdown.</a:t>
            </a:r>
          </a:p>
        </p:txBody>
      </p:sp>
      <p:pic>
        <p:nvPicPr>
          <p:cNvPr id="6" name="Picture 5" descr="06-report.png"/>
          <p:cNvPicPr>
            <a:picLocks noChangeAspect="1"/>
          </p:cNvPicPr>
          <p:nvPr/>
        </p:nvPicPr>
        <p:blipFill>
          <a:blip r:embed="rId2"/>
          <a:srcRect b="26849"/>
          <a:stretch>
            <a:fillRect/>
          </a:stretch>
        </p:blipFill>
        <p:spPr>
          <a:xfrm>
            <a:off x="533400" y="1428750"/>
            <a:ext cx="11125200" cy="5086350"/>
          </a:xfrm>
          <a:prstGeom prst="rect">
            <a:avLst/>
          </a:prstGeom>
          <a:ln w="9525">
            <a:solidFill>
              <a:srgbClr val="DFE5E0"/>
            </a:solid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5B6B64"/>
                </a:solidFill>
                <a:latin typeface="Menlo"/>
              </a:rPr>
              <a:t>18 / 22</a:t>
            </a:r>
          </a:p>
        </p:txBody>
      </p:sp>
      <p:sp>
        <p:nvSpPr>
          <p:cNvPr id="3" name="TextBox 2"/>
          <p:cNvSpPr txBox="1"/>
          <p:nvPr/>
        </p:nvSpPr>
        <p:spPr>
          <a:xfrm>
            <a:off x="533400" y="381000"/>
            <a:ext cx="9525000" cy="209550"/>
          </a:xfrm>
          <a:prstGeom prst="rect">
            <a:avLst/>
          </a:prstGeom>
          <a:noFill/>
        </p:spPr>
        <p:txBody>
          <a:bodyPr wrap="square" anchor="t" lIns="0" rIns="0" tIns="0" bIns="0">
            <a:spAutoFit/>
          </a:bodyPr>
          <a:lstStyle/>
          <a:p>
            <a:pPr algn="l">
              <a:lnSpc>
                <a:spcPct val="105000"/>
              </a:lnSpc>
            </a:pPr>
            <a:r>
              <a:rPr sz="1000" b="1">
                <a:solidFill>
                  <a:srgbClr val="2F7A55"/>
                </a:solidFill>
                <a:latin typeface="Helvetica Neue"/>
              </a:rPr>
              <a:t>IN THE APP</a:t>
            </a:r>
          </a:p>
        </p:txBody>
      </p:sp>
      <p:sp>
        <p:nvSpPr>
          <p:cNvPr id="4" name="TextBox 3"/>
          <p:cNvSpPr txBox="1"/>
          <p:nvPr/>
        </p:nvSpPr>
        <p:spPr>
          <a:xfrm>
            <a:off x="533400" y="628650"/>
            <a:ext cx="11125200" cy="419100"/>
          </a:xfrm>
          <a:prstGeom prst="rect">
            <a:avLst/>
          </a:prstGeom>
          <a:noFill/>
        </p:spPr>
        <p:txBody>
          <a:bodyPr wrap="square" anchor="t" lIns="0" rIns="0" tIns="0" bIns="0">
            <a:spAutoFit/>
          </a:bodyPr>
          <a:lstStyle/>
          <a:p>
            <a:pPr algn="l">
              <a:lnSpc>
                <a:spcPct val="105000"/>
              </a:lnSpc>
            </a:pPr>
            <a:r>
              <a:rPr sz="2600" b="1">
                <a:solidFill>
                  <a:srgbClr val="10201A"/>
                </a:solidFill>
                <a:latin typeface="Helvetica Neue"/>
              </a:rPr>
              <a:t>Project memory you can see and control.</a:t>
            </a:r>
          </a:p>
        </p:txBody>
      </p:sp>
      <p:sp>
        <p:nvSpPr>
          <p:cNvPr id="5" name="TextBox 4"/>
          <p:cNvSpPr txBox="1"/>
          <p:nvPr/>
        </p:nvSpPr>
        <p:spPr>
          <a:xfrm>
            <a:off x="533400" y="1066800"/>
            <a:ext cx="11125200" cy="247650"/>
          </a:xfrm>
          <a:prstGeom prst="rect">
            <a:avLst/>
          </a:prstGeom>
          <a:noFill/>
        </p:spPr>
        <p:txBody>
          <a:bodyPr wrap="square" anchor="t" lIns="0" rIns="0" tIns="0" bIns="0">
            <a:spAutoFit/>
          </a:bodyPr>
          <a:lstStyle/>
          <a:p>
            <a:pPr algn="l">
              <a:lnSpc>
                <a:spcPct val="105000"/>
              </a:lnSpc>
            </a:pPr>
            <a:r>
              <a:rPr sz="1400" b="0">
                <a:solidFill>
                  <a:srgbClr val="5B6B64"/>
                </a:solidFill>
                <a:latin typeface="Helvetica Neue"/>
              </a:rPr>
              <a:t>Approved rules with their source, scope, history and review date. Suggestions wait for you.</a:t>
            </a:r>
          </a:p>
        </p:txBody>
      </p:sp>
      <p:pic>
        <p:nvPicPr>
          <p:cNvPr id="6" name="Picture 5" descr="07-memory.png"/>
          <p:cNvPicPr>
            <a:picLocks noChangeAspect="1"/>
          </p:cNvPicPr>
          <p:nvPr/>
        </p:nvPicPr>
        <p:blipFill>
          <a:blip r:embed="rId2"/>
          <a:srcRect b="26849"/>
          <a:stretch>
            <a:fillRect/>
          </a:stretch>
        </p:blipFill>
        <p:spPr>
          <a:xfrm>
            <a:off x="533400" y="1428750"/>
            <a:ext cx="11125200" cy="5086350"/>
          </a:xfrm>
          <a:prstGeom prst="rect">
            <a:avLst/>
          </a:prstGeom>
          <a:ln w="9525">
            <a:solidFill>
              <a:srgbClr val="DFE5E0"/>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3221B"/>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A9BBB1"/>
                </a:solidFill>
                <a:latin typeface="Menlo"/>
              </a:rPr>
              <a:t>19 / 22</a:t>
            </a:r>
          </a:p>
        </p:txBody>
      </p:sp>
      <p:sp>
        <p:nvSpPr>
          <p:cNvPr id="3" name="TextBox 2"/>
          <p:cNvSpPr txBox="1"/>
          <p:nvPr/>
        </p:nvSpPr>
        <p:spPr>
          <a:xfrm>
            <a:off x="838200" y="685800"/>
            <a:ext cx="9525000" cy="209550"/>
          </a:xfrm>
          <a:prstGeom prst="rect">
            <a:avLst/>
          </a:prstGeom>
          <a:noFill/>
        </p:spPr>
        <p:txBody>
          <a:bodyPr wrap="square" anchor="t" lIns="0" rIns="0" tIns="0" bIns="0">
            <a:spAutoFit/>
          </a:bodyPr>
          <a:lstStyle/>
          <a:p>
            <a:pPr algn="l">
              <a:lnSpc>
                <a:spcPct val="105000"/>
              </a:lnSpc>
            </a:pPr>
            <a:r>
              <a:rPr sz="1100" b="1">
                <a:solidFill>
                  <a:srgbClr val="8CC79F"/>
                </a:solidFill>
                <a:latin typeface="Helvetica Neue"/>
              </a:rPr>
              <a:t>BUILT TO BE TRUSTED</a:t>
            </a:r>
          </a:p>
        </p:txBody>
      </p:sp>
      <p:sp>
        <p:nvSpPr>
          <p:cNvPr id="4" name="TextBox 3"/>
          <p:cNvSpPr txBox="1"/>
          <p:nvPr/>
        </p:nvSpPr>
        <p:spPr>
          <a:xfrm>
            <a:off x="838200" y="1066800"/>
            <a:ext cx="10515600" cy="1428750"/>
          </a:xfrm>
          <a:prstGeom prst="rect">
            <a:avLst/>
          </a:prstGeom>
          <a:noFill/>
        </p:spPr>
        <p:txBody>
          <a:bodyPr wrap="square" anchor="t" lIns="0" rIns="0" tIns="0" bIns="0">
            <a:spAutoFit/>
          </a:bodyPr>
          <a:lstStyle/>
          <a:p>
            <a:pPr algn="l">
              <a:lnSpc>
                <a:spcPct val="100000"/>
              </a:lnSpc>
            </a:pPr>
            <a:r>
              <a:rPr sz="4000" b="1">
                <a:solidFill>
                  <a:srgbClr val="EEF5F0"/>
                </a:solidFill>
                <a:latin typeface="Helvetica Neue"/>
              </a:rPr>
              <a:t>Tested like it handles money. </a:t>
            </a:r>
            <a:r>
              <a:rPr sz="4000" b="1">
                <a:solidFill>
                  <a:srgbClr val="8CC79F"/>
                </a:solidFill>
                <a:latin typeface="Helvetica Neue"/>
              </a:rPr>
              <a:t>Because it does.</a:t>
            </a:r>
          </a:p>
        </p:txBody>
      </p:sp>
      <p:sp>
        <p:nvSpPr>
          <p:cNvPr id="5" name="Rounded Rectangle 4"/>
          <p:cNvSpPr/>
          <p:nvPr/>
        </p:nvSpPr>
        <p:spPr>
          <a:xfrm>
            <a:off x="838200" y="3810000"/>
            <a:ext cx="2486025" cy="2438400"/>
          </a:xfrm>
          <a:prstGeom prst="roundRect">
            <a:avLst>
              <a:gd name="adj" fmla="val 8000"/>
            </a:avLst>
          </a:prstGeom>
          <a:solidFill>
            <a:srgbClr val="1E2E26"/>
          </a:solidFill>
          <a:ln w="9525">
            <a:solidFill>
              <a:srgbClr val="2A3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7750" y="4019550"/>
            <a:ext cx="2066925" cy="533400"/>
          </a:xfrm>
          <a:prstGeom prst="rect">
            <a:avLst/>
          </a:prstGeom>
          <a:noFill/>
        </p:spPr>
        <p:txBody>
          <a:bodyPr wrap="square" anchor="t" lIns="0" rIns="0" tIns="0" bIns="0">
            <a:spAutoFit/>
          </a:bodyPr>
          <a:lstStyle/>
          <a:p>
            <a:pPr algn="l">
              <a:lnSpc>
                <a:spcPct val="105000"/>
              </a:lnSpc>
            </a:pPr>
            <a:r>
              <a:rPr sz="3000" b="1">
                <a:solidFill>
                  <a:srgbClr val="EEF5F0"/>
                </a:solidFill>
                <a:latin typeface="Helvetica Neue"/>
              </a:rPr>
              <a:t>3,656</a:t>
            </a:r>
          </a:p>
        </p:txBody>
      </p:sp>
      <p:sp>
        <p:nvSpPr>
          <p:cNvPr id="7" name="TextBox 6"/>
          <p:cNvSpPr txBox="1"/>
          <p:nvPr/>
        </p:nvSpPr>
        <p:spPr>
          <a:xfrm>
            <a:off x="1047750" y="4552950"/>
            <a:ext cx="2066925" cy="1543050"/>
          </a:xfrm>
          <a:prstGeom prst="rect">
            <a:avLst/>
          </a:prstGeom>
          <a:noFill/>
        </p:spPr>
        <p:txBody>
          <a:bodyPr wrap="square" anchor="t" lIns="0" rIns="0" tIns="0" bIns="0">
            <a:spAutoFit/>
          </a:bodyPr>
          <a:lstStyle/>
          <a:p>
            <a:pPr algn="l">
              <a:lnSpc>
                <a:spcPct val="120000"/>
              </a:lnSpc>
            </a:pPr>
            <a:r>
              <a:rPr sz="1200" b="0">
                <a:solidFill>
                  <a:srgbClr val="A9BBB1"/>
                </a:solidFill>
                <a:latin typeface="Helvetica Neue"/>
              </a:rPr>
              <a:t>automated unit tests</a:t>
            </a:r>
          </a:p>
        </p:txBody>
      </p:sp>
      <p:sp>
        <p:nvSpPr>
          <p:cNvPr id="8" name="Rounded Rectangle 7"/>
          <p:cNvSpPr/>
          <p:nvPr/>
        </p:nvSpPr>
        <p:spPr>
          <a:xfrm>
            <a:off x="3514725" y="3810000"/>
            <a:ext cx="2486025" cy="2438400"/>
          </a:xfrm>
          <a:prstGeom prst="roundRect">
            <a:avLst>
              <a:gd name="adj" fmla="val 8000"/>
            </a:avLst>
          </a:prstGeom>
          <a:solidFill>
            <a:srgbClr val="1E2E26"/>
          </a:solidFill>
          <a:ln w="9525">
            <a:solidFill>
              <a:srgbClr val="2A3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24275" y="4019550"/>
            <a:ext cx="2066925" cy="533400"/>
          </a:xfrm>
          <a:prstGeom prst="rect">
            <a:avLst/>
          </a:prstGeom>
          <a:noFill/>
        </p:spPr>
        <p:txBody>
          <a:bodyPr wrap="square" anchor="t" lIns="0" rIns="0" tIns="0" bIns="0">
            <a:spAutoFit/>
          </a:bodyPr>
          <a:lstStyle/>
          <a:p>
            <a:pPr algn="l">
              <a:lnSpc>
                <a:spcPct val="105000"/>
              </a:lnSpc>
            </a:pPr>
            <a:r>
              <a:rPr sz="3000" b="1">
                <a:solidFill>
                  <a:srgbClr val="EEF5F0"/>
                </a:solidFill>
                <a:latin typeface="Helvetica Neue"/>
              </a:rPr>
              <a:t>120</a:t>
            </a:r>
          </a:p>
        </p:txBody>
      </p:sp>
      <p:sp>
        <p:nvSpPr>
          <p:cNvPr id="10" name="TextBox 9"/>
          <p:cNvSpPr txBox="1"/>
          <p:nvPr/>
        </p:nvSpPr>
        <p:spPr>
          <a:xfrm>
            <a:off x="3724275" y="4552950"/>
            <a:ext cx="2066925" cy="1543050"/>
          </a:xfrm>
          <a:prstGeom prst="rect">
            <a:avLst/>
          </a:prstGeom>
          <a:noFill/>
        </p:spPr>
        <p:txBody>
          <a:bodyPr wrap="square" anchor="t" lIns="0" rIns="0" tIns="0" bIns="0">
            <a:spAutoFit/>
          </a:bodyPr>
          <a:lstStyle/>
          <a:p>
            <a:pPr algn="l">
              <a:lnSpc>
                <a:spcPct val="120000"/>
              </a:lnSpc>
            </a:pPr>
            <a:r>
              <a:rPr sz="1200" b="0">
                <a:solidFill>
                  <a:srgbClr val="A9BBB1"/>
                </a:solidFill>
                <a:latin typeface="Helvetica Neue"/>
              </a:rPr>
              <a:t>integration tests, incl. crash recovery</a:t>
            </a:r>
          </a:p>
        </p:txBody>
      </p:sp>
      <p:sp>
        <p:nvSpPr>
          <p:cNvPr id="11" name="Rounded Rectangle 10"/>
          <p:cNvSpPr/>
          <p:nvPr/>
        </p:nvSpPr>
        <p:spPr>
          <a:xfrm>
            <a:off x="6191250" y="3810000"/>
            <a:ext cx="2486025" cy="2438400"/>
          </a:xfrm>
          <a:prstGeom prst="roundRect">
            <a:avLst>
              <a:gd name="adj" fmla="val 8000"/>
            </a:avLst>
          </a:prstGeom>
          <a:solidFill>
            <a:srgbClr val="1E2E26"/>
          </a:solidFill>
          <a:ln w="9525">
            <a:solidFill>
              <a:srgbClr val="2A3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019550"/>
            <a:ext cx="2066925" cy="533400"/>
          </a:xfrm>
          <a:prstGeom prst="rect">
            <a:avLst/>
          </a:prstGeom>
          <a:noFill/>
        </p:spPr>
        <p:txBody>
          <a:bodyPr wrap="square" anchor="t" lIns="0" rIns="0" tIns="0" bIns="0">
            <a:spAutoFit/>
          </a:bodyPr>
          <a:lstStyle/>
          <a:p>
            <a:pPr algn="l">
              <a:lnSpc>
                <a:spcPct val="105000"/>
              </a:lnSpc>
            </a:pPr>
            <a:r>
              <a:rPr sz="3000" b="1">
                <a:solidFill>
                  <a:srgbClr val="EEF5F0"/>
                </a:solidFill>
                <a:latin typeface="Helvetica Neue"/>
              </a:rPr>
              <a:t>43</a:t>
            </a:r>
          </a:p>
        </p:txBody>
      </p:sp>
      <p:sp>
        <p:nvSpPr>
          <p:cNvPr id="13" name="TextBox 12"/>
          <p:cNvSpPr txBox="1"/>
          <p:nvPr/>
        </p:nvSpPr>
        <p:spPr>
          <a:xfrm>
            <a:off x="6400800" y="4552950"/>
            <a:ext cx="2066925" cy="1543050"/>
          </a:xfrm>
          <a:prstGeom prst="rect">
            <a:avLst/>
          </a:prstGeom>
          <a:noFill/>
        </p:spPr>
        <p:txBody>
          <a:bodyPr wrap="square" anchor="t" lIns="0" rIns="0" tIns="0" bIns="0">
            <a:spAutoFit/>
          </a:bodyPr>
          <a:lstStyle/>
          <a:p>
            <a:pPr algn="l">
              <a:lnSpc>
                <a:spcPct val="120000"/>
              </a:lnSpc>
            </a:pPr>
            <a:r>
              <a:rPr sz="1200" b="0">
                <a:solidFill>
                  <a:srgbClr val="A9BBB1"/>
                </a:solidFill>
                <a:latin typeface="Helvetica Neue"/>
              </a:rPr>
              <a:t>end-to-end tests of the real app</a:t>
            </a:r>
          </a:p>
        </p:txBody>
      </p:sp>
      <p:sp>
        <p:nvSpPr>
          <p:cNvPr id="14" name="Rounded Rectangle 13"/>
          <p:cNvSpPr/>
          <p:nvPr/>
        </p:nvSpPr>
        <p:spPr>
          <a:xfrm>
            <a:off x="8867775" y="3810000"/>
            <a:ext cx="2486025" cy="2438400"/>
          </a:xfrm>
          <a:prstGeom prst="roundRect">
            <a:avLst>
              <a:gd name="adj" fmla="val 8000"/>
            </a:avLst>
          </a:prstGeom>
          <a:solidFill>
            <a:srgbClr val="1E2E26"/>
          </a:solidFill>
          <a:ln w="9525">
            <a:solidFill>
              <a:srgbClr val="2A3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77325" y="4019550"/>
            <a:ext cx="2066925" cy="533400"/>
          </a:xfrm>
          <a:prstGeom prst="rect">
            <a:avLst/>
          </a:prstGeom>
          <a:noFill/>
        </p:spPr>
        <p:txBody>
          <a:bodyPr wrap="square" anchor="t" lIns="0" rIns="0" tIns="0" bIns="0">
            <a:spAutoFit/>
          </a:bodyPr>
          <a:lstStyle/>
          <a:p>
            <a:pPr algn="l">
              <a:lnSpc>
                <a:spcPct val="105000"/>
              </a:lnSpc>
            </a:pPr>
            <a:r>
              <a:rPr sz="3000" b="1">
                <a:solidFill>
                  <a:srgbClr val="EEF5F0"/>
                </a:solidFill>
                <a:latin typeface="Helvetica Neue"/>
              </a:rPr>
              <a:t>0</a:t>
            </a:r>
          </a:p>
        </p:txBody>
      </p:sp>
      <p:sp>
        <p:nvSpPr>
          <p:cNvPr id="16" name="TextBox 15"/>
          <p:cNvSpPr txBox="1"/>
          <p:nvPr/>
        </p:nvSpPr>
        <p:spPr>
          <a:xfrm>
            <a:off x="9077325" y="4552950"/>
            <a:ext cx="2066925" cy="1543050"/>
          </a:xfrm>
          <a:prstGeom prst="rect">
            <a:avLst/>
          </a:prstGeom>
          <a:noFill/>
        </p:spPr>
        <p:txBody>
          <a:bodyPr wrap="square" anchor="t" lIns="0" rIns="0" tIns="0" bIns="0">
            <a:spAutoFit/>
          </a:bodyPr>
          <a:lstStyle/>
          <a:p>
            <a:pPr algn="l">
              <a:lnSpc>
                <a:spcPct val="120000"/>
              </a:lnSpc>
            </a:pPr>
            <a:r>
              <a:rPr sz="1200" b="0">
                <a:solidFill>
                  <a:srgbClr val="A9BBB1"/>
                </a:solidFill>
                <a:latin typeface="Helvetica Neue"/>
              </a:rPr>
              <a:t>secrets found by the release secret scan</a:t>
            </a:r>
          </a:p>
        </p:txBody>
      </p:sp>
      <p:sp>
        <p:nvSpPr>
          <p:cNvPr id="17" name="TextBox 16"/>
          <p:cNvSpPr txBox="1"/>
          <p:nvPr/>
        </p:nvSpPr>
        <p:spPr>
          <a:xfrm>
            <a:off x="838200" y="6286500"/>
            <a:ext cx="10477500" cy="285750"/>
          </a:xfrm>
          <a:prstGeom prst="rect">
            <a:avLst/>
          </a:prstGeom>
          <a:noFill/>
        </p:spPr>
        <p:txBody>
          <a:bodyPr wrap="square" anchor="t" lIns="0" rIns="0" tIns="0" bIns="0">
            <a:spAutoFit/>
          </a:bodyPr>
          <a:lstStyle/>
          <a:p>
            <a:pPr algn="l">
              <a:lnSpc>
                <a:spcPct val="105000"/>
              </a:lnSpc>
            </a:pPr>
            <a:r>
              <a:rPr sz="1200" b="0">
                <a:solidFill>
                  <a:srgbClr val="A9BBB1"/>
                </a:solidFill>
                <a:latin typeface="Helvetica Neue"/>
              </a:rPr>
              <a:t>Independent security, money, UI and resilience audits, each followed by fixes and a bug hunt.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5B6B64"/>
                </a:solidFill>
                <a:latin typeface="Menlo"/>
              </a:rPr>
              <a:t>20 / 22</a:t>
            </a:r>
          </a:p>
        </p:txBody>
      </p:sp>
      <p:sp>
        <p:nvSpPr>
          <p:cNvPr id="3" name="TextBox 2"/>
          <p:cNvSpPr txBox="1"/>
          <p:nvPr/>
        </p:nvSpPr>
        <p:spPr>
          <a:xfrm>
            <a:off x="838200" y="685800"/>
            <a:ext cx="9525000" cy="209550"/>
          </a:xfrm>
          <a:prstGeom prst="rect">
            <a:avLst/>
          </a:prstGeom>
          <a:noFill/>
        </p:spPr>
        <p:txBody>
          <a:bodyPr wrap="square" anchor="t" lIns="0" rIns="0" tIns="0" bIns="0">
            <a:spAutoFit/>
          </a:bodyPr>
          <a:lstStyle/>
          <a:p>
            <a:pPr algn="l">
              <a:lnSpc>
                <a:spcPct val="105000"/>
              </a:lnSpc>
            </a:pPr>
            <a:r>
              <a:rPr sz="1100" b="1">
                <a:solidFill>
                  <a:srgbClr val="2F7A55"/>
                </a:solidFill>
                <a:latin typeface="Helvetica Neue"/>
              </a:rPr>
              <a:t>WHO IT IS FOR</a:t>
            </a:r>
          </a:p>
        </p:txBody>
      </p:sp>
      <p:sp>
        <p:nvSpPr>
          <p:cNvPr id="4" name="TextBox 3"/>
          <p:cNvSpPr txBox="1"/>
          <p:nvPr/>
        </p:nvSpPr>
        <p:spPr>
          <a:xfrm>
            <a:off x="838200" y="1066800"/>
            <a:ext cx="10515600" cy="1428750"/>
          </a:xfrm>
          <a:prstGeom prst="rect">
            <a:avLst/>
          </a:prstGeom>
          <a:noFill/>
        </p:spPr>
        <p:txBody>
          <a:bodyPr wrap="square" anchor="t" lIns="0" rIns="0" tIns="0" bIns="0">
            <a:spAutoFit/>
          </a:bodyPr>
          <a:lstStyle/>
          <a:p>
            <a:pPr algn="l">
              <a:lnSpc>
                <a:spcPct val="100000"/>
              </a:lnSpc>
            </a:pPr>
            <a:r>
              <a:rPr sz="4000" b="1">
                <a:solidFill>
                  <a:srgbClr val="10201A"/>
                </a:solidFill>
                <a:latin typeface="Helvetica Neue"/>
              </a:rPr>
              <a:t>Teams that already pay for AI </a:t>
            </a:r>
            <a:r>
              <a:rPr sz="4000" b="1">
                <a:solidFill>
                  <a:srgbClr val="2F7A55"/>
                </a:solidFill>
                <a:latin typeface="Helvetica Neue"/>
              </a:rPr>
              <a:t>and want it predictable.</a:t>
            </a:r>
          </a:p>
        </p:txBody>
      </p:sp>
      <p:sp>
        <p:nvSpPr>
          <p:cNvPr id="5" name="Rounded Rectangle 4"/>
          <p:cNvSpPr/>
          <p:nvPr/>
        </p:nvSpPr>
        <p:spPr>
          <a:xfrm>
            <a:off x="838200" y="4000500"/>
            <a:ext cx="3378200" cy="2247900"/>
          </a:xfrm>
          <a:prstGeom prst="roundRect">
            <a:avLst>
              <a:gd name="adj" fmla="val 8000"/>
            </a:avLst>
          </a:prstGeom>
          <a:solidFill>
            <a:srgbClr val="FFFFFF"/>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7750" y="4210050"/>
            <a:ext cx="2959100"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Engineering leads</a:t>
            </a:r>
          </a:p>
        </p:txBody>
      </p:sp>
      <p:sp>
        <p:nvSpPr>
          <p:cNvPr id="7" name="TextBox 6"/>
          <p:cNvSpPr txBox="1"/>
          <p:nvPr/>
        </p:nvSpPr>
        <p:spPr>
          <a:xfrm>
            <a:off x="1047750" y="4514850"/>
            <a:ext cx="2959100" cy="158115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Need AI help their team can audit and approve.</a:t>
            </a:r>
          </a:p>
        </p:txBody>
      </p:sp>
      <p:sp>
        <p:nvSpPr>
          <p:cNvPr id="8" name="Rounded Rectangle 7"/>
          <p:cNvSpPr/>
          <p:nvPr/>
        </p:nvSpPr>
        <p:spPr>
          <a:xfrm>
            <a:off x="4406900" y="4000500"/>
            <a:ext cx="3378200" cy="2247900"/>
          </a:xfrm>
          <a:prstGeom prst="roundRect">
            <a:avLst>
              <a:gd name="adj" fmla="val 8000"/>
            </a:avLst>
          </a:prstGeom>
          <a:solidFill>
            <a:srgbClr val="FFFFFF"/>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6450" y="4210050"/>
            <a:ext cx="2959100"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Developers</a:t>
            </a:r>
          </a:p>
        </p:txBody>
      </p:sp>
      <p:sp>
        <p:nvSpPr>
          <p:cNvPr id="10" name="TextBox 9"/>
          <p:cNvSpPr txBox="1"/>
          <p:nvPr/>
        </p:nvSpPr>
        <p:spPr>
          <a:xfrm>
            <a:off x="4616450" y="4514850"/>
            <a:ext cx="2959100" cy="158115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Want a reviewed plan and a clean patch, not a chat transcript.</a:t>
            </a:r>
          </a:p>
        </p:txBody>
      </p:sp>
      <p:sp>
        <p:nvSpPr>
          <p:cNvPr id="11" name="Rounded Rectangle 10"/>
          <p:cNvSpPr/>
          <p:nvPr/>
        </p:nvSpPr>
        <p:spPr>
          <a:xfrm>
            <a:off x="7975600" y="4000500"/>
            <a:ext cx="3378200" cy="2247900"/>
          </a:xfrm>
          <a:prstGeom prst="roundRect">
            <a:avLst>
              <a:gd name="adj" fmla="val 8000"/>
            </a:avLst>
          </a:prstGeom>
          <a:solidFill>
            <a:srgbClr val="FFFFFF"/>
          </a:solidFill>
          <a:ln w="9525">
            <a:solidFill>
              <a:srgbClr val="DFE5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5150" y="4210050"/>
            <a:ext cx="2959100" cy="285750"/>
          </a:xfrm>
          <a:prstGeom prst="rect">
            <a:avLst/>
          </a:prstGeom>
          <a:noFill/>
        </p:spPr>
        <p:txBody>
          <a:bodyPr wrap="square" anchor="t" lIns="0" rIns="0" tIns="0" bIns="0">
            <a:spAutoFit/>
          </a:bodyPr>
          <a:lstStyle/>
          <a:p>
            <a:pPr algn="l">
              <a:lnSpc>
                <a:spcPct val="105000"/>
              </a:lnSpc>
            </a:pPr>
            <a:r>
              <a:rPr sz="1500" b="1">
                <a:solidFill>
                  <a:srgbClr val="10201A"/>
                </a:solidFill>
                <a:latin typeface="Helvetica Neue"/>
              </a:rPr>
              <a:t>Budget owners</a:t>
            </a:r>
          </a:p>
        </p:txBody>
      </p:sp>
      <p:sp>
        <p:nvSpPr>
          <p:cNvPr id="13" name="TextBox 12"/>
          <p:cNvSpPr txBox="1"/>
          <p:nvPr/>
        </p:nvSpPr>
        <p:spPr>
          <a:xfrm>
            <a:off x="8185150" y="4514850"/>
            <a:ext cx="2959100" cy="1581150"/>
          </a:xfrm>
          <a:prstGeom prst="rect">
            <a:avLst/>
          </a:prstGeom>
          <a:noFill/>
        </p:spPr>
        <p:txBody>
          <a:bodyPr wrap="square" anchor="t" lIns="0" rIns="0" tIns="0" bIns="0">
            <a:spAutoFit/>
          </a:bodyPr>
          <a:lstStyle/>
          <a:p>
            <a:pPr algn="l">
              <a:lnSpc>
                <a:spcPct val="120000"/>
              </a:lnSpc>
            </a:pPr>
            <a:r>
              <a:rPr sz="1200" b="0">
                <a:solidFill>
                  <a:srgbClr val="5B6B64"/>
                </a:solidFill>
                <a:latin typeface="Helvetica Neue"/>
              </a:rPr>
              <a:t>Need hard spending limits and a ledger they can export.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5B6B64"/>
                </a:solidFill>
                <a:latin typeface="Menlo"/>
              </a:rPr>
              <a:t>21 / 22</a:t>
            </a:r>
          </a:p>
        </p:txBody>
      </p:sp>
      <p:sp>
        <p:nvSpPr>
          <p:cNvPr id="3" name="TextBox 2"/>
          <p:cNvSpPr txBox="1"/>
          <p:nvPr/>
        </p:nvSpPr>
        <p:spPr>
          <a:xfrm>
            <a:off x="838200" y="685800"/>
            <a:ext cx="9525000" cy="209550"/>
          </a:xfrm>
          <a:prstGeom prst="rect">
            <a:avLst/>
          </a:prstGeom>
          <a:noFill/>
        </p:spPr>
        <p:txBody>
          <a:bodyPr wrap="square" anchor="t" lIns="0" rIns="0" tIns="0" bIns="0">
            <a:spAutoFit/>
          </a:bodyPr>
          <a:lstStyle/>
          <a:p>
            <a:pPr algn="l">
              <a:lnSpc>
                <a:spcPct val="105000"/>
              </a:lnSpc>
            </a:pPr>
            <a:r>
              <a:rPr sz="1100" b="1">
                <a:solidFill>
                  <a:srgbClr val="2F7A55"/>
                </a:solidFill>
                <a:latin typeface="Helvetica Neue"/>
              </a:rPr>
              <a:t>WHERE WE ARE</a:t>
            </a:r>
          </a:p>
        </p:txBody>
      </p:sp>
      <p:sp>
        <p:nvSpPr>
          <p:cNvPr id="4" name="TextBox 3"/>
          <p:cNvSpPr txBox="1"/>
          <p:nvPr/>
        </p:nvSpPr>
        <p:spPr>
          <a:xfrm>
            <a:off x="838200" y="1066800"/>
            <a:ext cx="10515600" cy="1428750"/>
          </a:xfrm>
          <a:prstGeom prst="rect">
            <a:avLst/>
          </a:prstGeom>
          <a:noFill/>
        </p:spPr>
        <p:txBody>
          <a:bodyPr wrap="square" anchor="t" lIns="0" rIns="0" tIns="0" bIns="0">
            <a:spAutoFit/>
          </a:bodyPr>
          <a:lstStyle/>
          <a:p>
            <a:pPr algn="l">
              <a:lnSpc>
                <a:spcPct val="100000"/>
              </a:lnSpc>
            </a:pPr>
            <a:r>
              <a:rPr sz="4000" b="1">
                <a:solidFill>
                  <a:srgbClr val="10201A"/>
                </a:solidFill>
                <a:latin typeface="Helvetica Neue"/>
              </a:rPr>
              <a:t>Prototype complete. </a:t>
            </a:r>
            <a:r>
              <a:rPr sz="4000" b="1">
                <a:solidFill>
                  <a:srgbClr val="2F7A55"/>
                </a:solidFill>
                <a:latin typeface="Helvetica Neue"/>
              </a:rPr>
              <a:t>Next: real-world proof.</a:t>
            </a:r>
          </a:p>
        </p:txBody>
      </p:sp>
      <p:sp>
        <p:nvSpPr>
          <p:cNvPr id="5" name="TextBox 4"/>
          <p:cNvSpPr txBox="1"/>
          <p:nvPr/>
        </p:nvSpPr>
        <p:spPr>
          <a:xfrm>
            <a:off x="838200" y="2590800"/>
            <a:ext cx="10477500" cy="2857500"/>
          </a:xfrm>
          <a:prstGeom prst="rect">
            <a:avLst/>
          </a:prstGeom>
          <a:noFill/>
        </p:spPr>
        <p:txBody>
          <a:bodyPr wrap="square" anchor="t" lIns="0" rIns="0" tIns="0" bIns="0">
            <a:spAutoFit/>
          </a:bodyPr>
          <a:lstStyle/>
          <a:p>
            <a:pPr algn="l">
              <a:lnSpc>
                <a:spcPct val="170000"/>
              </a:lnSpc>
            </a:pPr>
            <a:r>
              <a:rPr sz="2200" b="0">
                <a:solidFill>
                  <a:srgbClr val="2F7A55"/>
                </a:solidFill>
                <a:latin typeface="Helvetica Neue"/>
              </a:rPr>
              <a:t>—  </a:t>
            </a:r>
            <a:r>
              <a:rPr sz="2200" b="0">
                <a:solidFill>
                  <a:srgbClr val="5B6B64"/>
                </a:solidFill>
                <a:latin typeface="Helvetica Neue"/>
              </a:rPr>
              <a:t>Done: full workflow, desktop app, packaging, audits.</a:t>
            </a:r>
          </a:p>
          <a:p>
            <a:pPr algn="l">
              <a:lnSpc>
                <a:spcPct val="170000"/>
              </a:lnSpc>
            </a:pPr>
            <a:r>
              <a:rPr sz="2200" b="0">
                <a:solidFill>
                  <a:srgbClr val="2F7A55"/>
                </a:solidFill>
                <a:latin typeface="Helvetica Neue"/>
              </a:rPr>
              <a:t>—  </a:t>
            </a:r>
            <a:r>
              <a:rPr sz="2200" b="0">
                <a:solidFill>
                  <a:srgbClr val="5B6B64"/>
                </a:solidFill>
                <a:latin typeface="Helvetica Neue"/>
              </a:rPr>
              <a:t>Next: live run against all three providers.</a:t>
            </a:r>
          </a:p>
          <a:p>
            <a:pPr algn="l">
              <a:lnSpc>
                <a:spcPct val="170000"/>
              </a:lnSpc>
            </a:pPr>
            <a:r>
              <a:rPr sz="2200" b="0">
                <a:solidFill>
                  <a:srgbClr val="2F7A55"/>
                </a:solidFill>
                <a:latin typeface="Helvetica Neue"/>
              </a:rPr>
              <a:t>—  </a:t>
            </a:r>
            <a:r>
              <a:rPr sz="2200" b="0">
                <a:solidFill>
                  <a:srgbClr val="5B6B64"/>
                </a:solidFill>
                <a:latin typeface="Helvetica Neue"/>
              </a:rPr>
              <a:t>Next: signed macOS build and first pilot teams.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gradFill rotWithShape="1">
          <a:gsLst>
            <a:gs pos="0">
              <a:srgbClr val="2F7A55"/>
            </a:gs>
            <a:gs pos="100000">
              <a:srgbClr val="8CC79F"/>
            </a:gs>
          </a:gsLst>
          <a:lin scaled="0" ang="2700000"/>
        </a:gradFill>
        <a:effectLst/>
      </p:bgPr>
    </p:bg>
    <p:spTree>
      <p:nvGrpSpPr>
        <p:cNvPr id="1" name=""/>
        <p:cNvGrpSpPr/>
        <p:nvPr/>
      </p:nvGrpSpPr>
      <p:grpSpPr/>
      <p:sp>
        <p:nvSpPr>
          <p:cNvPr id="2" name="TextBox 1"/>
          <p:cNvSpPr txBox="1"/>
          <p:nvPr/>
        </p:nvSpPr>
        <p:spPr>
          <a:xfrm>
            <a:off x="10477500" y="247650"/>
            <a:ext cx="1428750" cy="190500"/>
          </a:xfrm>
          <a:prstGeom prst="rect">
            <a:avLst/>
          </a:prstGeom>
          <a:noFill/>
        </p:spPr>
        <p:txBody>
          <a:bodyPr wrap="square" anchor="t" lIns="0" rIns="0" tIns="0" bIns="0">
            <a:spAutoFit/>
          </a:bodyPr>
          <a:lstStyle/>
          <a:p>
            <a:pPr algn="r">
              <a:lnSpc>
                <a:spcPct val="105000"/>
              </a:lnSpc>
            </a:pPr>
            <a:r>
              <a:rPr sz="900" b="0">
                <a:solidFill>
                  <a:srgbClr val="EAF5EE"/>
                </a:solidFill>
                <a:latin typeface="Menlo"/>
              </a:rPr>
              <a:t>22 / 22</a:t>
            </a:r>
          </a:p>
        </p:txBody>
      </p:sp>
      <p:sp>
        <p:nvSpPr>
          <p:cNvPr id="3" name="TextBox 2"/>
          <p:cNvSpPr txBox="1"/>
          <p:nvPr/>
        </p:nvSpPr>
        <p:spPr>
          <a:xfrm>
            <a:off x="838200" y="685800"/>
            <a:ext cx="9525000" cy="209550"/>
          </a:xfrm>
          <a:prstGeom prst="rect">
            <a:avLst/>
          </a:prstGeom>
          <a:noFill/>
        </p:spPr>
        <p:txBody>
          <a:bodyPr wrap="square" anchor="t" lIns="0" rIns="0" tIns="0" bIns="0">
            <a:spAutoFit/>
          </a:bodyPr>
          <a:lstStyle/>
          <a:p>
            <a:pPr algn="l">
              <a:lnSpc>
                <a:spcPct val="105000"/>
              </a:lnSpc>
            </a:pPr>
            <a:r>
              <a:rPr sz="1100" b="1">
                <a:solidFill>
                  <a:srgbClr val="FFFFFF"/>
                </a:solidFill>
                <a:latin typeface="Helvetica Neue"/>
              </a:rPr>
              <a:t>THANK YOU</a:t>
            </a:r>
          </a:p>
        </p:txBody>
      </p:sp>
      <p:sp>
        <p:nvSpPr>
          <p:cNvPr id="4" name="TextBox 3"/>
          <p:cNvSpPr txBox="1"/>
          <p:nvPr/>
        </p:nvSpPr>
        <p:spPr>
          <a:xfrm>
            <a:off x="838200" y="2857500"/>
            <a:ext cx="10477500" cy="1905000"/>
          </a:xfrm>
          <a:prstGeom prst="rect">
            <a:avLst/>
          </a:prstGeom>
          <a:noFill/>
        </p:spPr>
        <p:txBody>
          <a:bodyPr wrap="square" anchor="b" lIns="0" rIns="0" tIns="0" bIns="0">
            <a:spAutoFit/>
          </a:bodyPr>
          <a:lstStyle/>
          <a:p>
            <a:pPr algn="l">
              <a:lnSpc>
                <a:spcPct val="95000"/>
              </a:lnSpc>
            </a:pPr>
            <a:r>
              <a:rPr sz="6600" b="1">
                <a:solidFill>
                  <a:srgbClr val="FFFFFF"/>
                </a:solidFill>
                <a:latin typeface="Helvetica Neue"/>
              </a:rPr>
              <a:t>Let's run it</a:t>
            </a:r>
            <a:r>
              <a:rPr sz="6600" b="1">
                <a:solidFill>
                  <a:srgbClr val="FFFFFF"/>
                </a:solidFill>
                <a:latin typeface="Helvetica Neue"/>
              </a:rPr>
              <a:t>
</a:t>
            </a:r>
            <a:r>
              <a:rPr sz="6600" b="1">
                <a:solidFill>
                  <a:srgbClr val="FFFFFF"/>
                </a:solidFill>
                <a:latin typeface="Helvetica Neue"/>
              </a:rPr>
              <a:t>on your code.</a:t>
            </a:r>
          </a:p>
        </p:txBody>
      </p:sp>
      <p:sp>
        <p:nvSpPr>
          <p:cNvPr id="5" name="TextBox 4"/>
          <p:cNvSpPr txBox="1"/>
          <p:nvPr/>
        </p:nvSpPr>
        <p:spPr>
          <a:xfrm>
            <a:off x="838200" y="4876800"/>
            <a:ext cx="10477500" cy="571500"/>
          </a:xfrm>
          <a:prstGeom prst="rect">
            <a:avLst/>
          </a:prstGeom>
          <a:noFill/>
        </p:spPr>
        <p:txBody>
          <a:bodyPr wrap="square" anchor="t" lIns="0" rIns="0" tIns="0" bIns="0">
            <a:spAutoFit/>
          </a:bodyPr>
          <a:lstStyle/>
          <a:p>
            <a:pPr algn="l">
              <a:lnSpc>
                <a:spcPct val="105000"/>
              </a:lnSpc>
            </a:pPr>
            <a:r>
              <a:rPr sz="2400" b="0">
                <a:solidFill>
                  <a:srgbClr val="FFFFFF"/>
                </a:solidFill>
                <a:latin typeface="Helvetica Neue"/>
              </a:rPr>
              <a:t>Looking for pilot teams. Questions?</a:t>
            </a:r>
          </a:p>
        </p:txBody>
      </p:sp>
      <p:sp>
        <p:nvSpPr>
          <p:cNvPr id="6" name="TextBox 5"/>
          <p:cNvSpPr txBox="1"/>
          <p:nvPr/>
        </p:nvSpPr>
        <p:spPr>
          <a:xfrm>
            <a:off x="838200" y="5905500"/>
            <a:ext cx="10477500" cy="285750"/>
          </a:xfrm>
          <a:prstGeom prst="rect">
            <a:avLst/>
          </a:prstGeom>
          <a:noFill/>
        </p:spPr>
        <p:txBody>
          <a:bodyPr wrap="square" anchor="t" lIns="0" rIns="0" tIns="0" bIns="0">
            <a:spAutoFit/>
          </a:bodyPr>
          <a:lstStyle/>
          <a:p>
            <a:pPr algn="l">
              <a:lnSpc>
                <a:spcPct val="105000"/>
              </a:lnSpc>
            </a:pPr>
            <a:r>
              <a:rPr sz="1300" b="0">
                <a:solidFill>
                  <a:srgbClr val="FFFFFF"/>
                </a:solidFill>
                <a:latin typeface="Helvetica Neue"/>
              </a:rPr>
              <a:t>Relay · AI on your code, with the brakes 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